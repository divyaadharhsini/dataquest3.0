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00_0.xml" ContentType="application/vnd.ms-powerpoint.comments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4F51ECC6-2D4B-BA92-B282-4E3DA8165BC6}" name="RISHIT BISOYI" initials="RB" userId="S::rishit.bisoyi2025@vitstudent.ac.in::cd4f7ff7-75e1-49f2-a276-375c6c14782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2C0BEE-8EA0-ABCF-A62F-2B9F40FC6642}" v="1" dt="2026-10-06T20:26:11.604"/>
    <p1510:client id="{8792CA87-CA5F-61F4-2F34-29E534A3DBAA}" v="7" dt="2026-10-07T05:50:44.0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-86" y="-3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5/10/relationships/revisionInfo" Target="revisionInfo.xml"/></Relationships>
</file>

<file path=ppt/comments/modernComment_100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B688531-0810-49A5-A43A-AC37517BACE6}" authorId="{4F51ECC6-2D4B-BA92-B282-4E3DA8165BC6}" created="2026-10-06T20:26:11.604">
    <pc:sldMkLst xmlns:pc="http://schemas.microsoft.com/office/powerpoint/2013/main/command">
      <pc:docMk/>
      <pc:sldMk cId="0" sldId="256"/>
    </pc:sldMkLst>
    <p188:txBody>
      <a:bodyPr/>
      <a:lstStyle/>
      <a:p>
        <a:r>
          <a:rPr lang="en-US"/>
          <a:t>Go to File-&gt;Create a copy-&gt;Download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0_0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182880" y="21945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182880" y="2596896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-182880" y="29992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521440" y="548640"/>
            <a:ext cx="219456" cy="164592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521440" y="713232"/>
            <a:ext cx="219456" cy="164592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521440" y="877824"/>
            <a:ext cx="219456" cy="164592"/>
          </a:xfrm>
          <a:prstGeom prst="rect">
            <a:avLst/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521440" y="1042416"/>
            <a:ext cx="219456" cy="164592"/>
          </a:xfrm>
          <a:prstGeom prst="rect">
            <a:avLst/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219456" cy="164592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5742432"/>
            <a:ext cx="219456" cy="164592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907024"/>
            <a:ext cx="219456" cy="164592"/>
          </a:xfrm>
          <a:prstGeom prst="rect">
            <a:avLst/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6071616"/>
            <a:ext cx="219456" cy="164592"/>
          </a:xfrm>
          <a:prstGeom prst="rect">
            <a:avLst/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087100" y="5934075"/>
            <a:ext cx="320040" cy="1905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237595" y="5783580"/>
            <a:ext cx="19050" cy="32004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1192256" y="5888736"/>
            <a:ext cx="109728" cy="109728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Arc 16"/>
          <p:cNvSpPr/>
          <p:nvPr/>
        </p:nvSpPr>
        <p:spPr>
          <a:xfrm>
            <a:off x="9601200" y="640080"/>
            <a:ext cx="1097280" cy="822960"/>
          </a:xfrm>
          <a:prstGeom prst="arc">
            <a:avLst/>
          </a:prstGeom>
          <a:noFill/>
          <a:ln w="19050">
            <a:solidFill>
              <a:srgbClr val="079E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9560052" y="1010412"/>
            <a:ext cx="82296" cy="82296"/>
          </a:xfrm>
          <a:prstGeom prst="rect">
            <a:avLst/>
          </a:prstGeom>
          <a:solidFill>
            <a:srgbClr val="FFFFFF"/>
          </a:solidFill>
          <a:ln w="1778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0657332" y="598932"/>
            <a:ext cx="82296" cy="82296"/>
          </a:xfrm>
          <a:prstGeom prst="rect">
            <a:avLst/>
          </a:prstGeom>
          <a:solidFill>
            <a:srgbClr val="FFFFFF"/>
          </a:solidFill>
          <a:ln w="1778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Arc 19"/>
          <p:cNvSpPr/>
          <p:nvPr/>
        </p:nvSpPr>
        <p:spPr>
          <a:xfrm>
            <a:off x="1463040" y="5303520"/>
            <a:ext cx="1005840" cy="731520"/>
          </a:xfrm>
          <a:prstGeom prst="arc">
            <a:avLst/>
          </a:prstGeom>
          <a:noFill/>
          <a:ln w="19050">
            <a:solidFill>
              <a:srgbClr val="079E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421892" y="5628132"/>
            <a:ext cx="82296" cy="82296"/>
          </a:xfrm>
          <a:prstGeom prst="rect">
            <a:avLst/>
          </a:prstGeom>
          <a:solidFill>
            <a:srgbClr val="FFFFFF"/>
          </a:solidFill>
          <a:ln w="1778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427732" y="5262372"/>
            <a:ext cx="82296" cy="82296"/>
          </a:xfrm>
          <a:prstGeom prst="rect">
            <a:avLst/>
          </a:prstGeom>
          <a:solidFill>
            <a:srgbClr val="FFFFFF"/>
          </a:solidFill>
          <a:ln w="1778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/>
          <p:cNvSpPr/>
          <p:nvPr/>
        </p:nvSpPr>
        <p:spPr>
          <a:xfrm rot="10800000">
            <a:off x="1645920" y="758952"/>
            <a:ext cx="219456" cy="256032"/>
          </a:xfrm>
          <a:prstGeom prst="triangle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673352" y="685800"/>
            <a:ext cx="164592" cy="91440"/>
          </a:xfrm>
          <a:prstGeom prst="roundRect">
            <a:avLst>
              <a:gd name="adj" fmla="val 20000"/>
            </a:avLst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732788" y="822960"/>
            <a:ext cx="45720" cy="45720"/>
          </a:xfrm>
          <a:prstGeom prst="ellipse">
            <a:avLst/>
          </a:prstGeom>
          <a:solidFill>
            <a:srgbClr val="FFF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751076" y="868680"/>
            <a:ext cx="19050" cy="137160"/>
          </a:xfrm>
          <a:prstGeom prst="rect">
            <a:avLst/>
          </a:prstGeom>
          <a:solidFill>
            <a:srgbClr val="FFF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645920" y="1078992"/>
            <a:ext cx="9144000" cy="15544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5600" b="1">
                <a:solidFill>
                  <a:srgbClr val="353334"/>
                </a:solidFill>
                <a:latin typeface="Fjalla One"/>
              </a:defRPr>
            </a:pPr>
            <a:r>
              <a:t>DATAQUEST 3.0</a:t>
            </a:r>
          </a:p>
          <a:p>
            <a:pPr>
              <a:spcBef>
                <a:spcPts val="200"/>
              </a:spcBef>
              <a:defRPr sz="3200" b="1">
                <a:solidFill>
                  <a:srgbClr val="FD1485"/>
                </a:solidFill>
                <a:latin typeface="Fjalla One"/>
              </a:defRPr>
            </a:pPr>
            <a:r>
              <a:t>ROUND 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45920" y="2578608"/>
            <a:ext cx="9418320" cy="1905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645920" y="2670048"/>
            <a:ext cx="94183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200" b="1">
                <a:solidFill>
                  <a:srgbClr val="353334"/>
                </a:solidFill>
                <a:latin typeface="Mulish"/>
              </a:defRPr>
            </a:pPr>
            <a:r>
              <a:t>OFFICIAL PARTICIPANT PPT TEMPLATE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645920" y="3246120"/>
            <a:ext cx="4572000" cy="2926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965960" y="311810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079ED2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Mulish"/>
              </a:defRPr>
            </a:pPr>
            <a:r>
              <a:t>PROJECT DETAILS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520440"/>
            <a:ext cx="4023360" cy="20723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3334"/>
                </a:solidFill>
                <a:latin typeface="Fjalla One"/>
              </a:defRPr>
            </a:pPr>
            <a:r>
              <a:rPr lang="en-US" sz="1100" b="1" dirty="0">
                <a:solidFill>
                  <a:srgbClr val="353334"/>
                </a:solidFill>
                <a:latin typeface="Fjalla One"/>
              </a:rPr>
              <a:t>PROJECT TITLE</a:t>
            </a:r>
          </a:p>
          <a:p>
            <a:pPr>
              <a:spcBef>
                <a:spcPts val="200"/>
              </a:spcBef>
              <a:defRPr sz="1600" b="1">
                <a:solidFill>
                  <a:srgbClr val="FD1485"/>
                </a:solidFill>
                <a:latin typeface="Fjalla One"/>
              </a:defRPr>
            </a:pPr>
            <a:r>
              <a:rPr lang="en-US" sz="1600" b="1" dirty="0">
                <a:solidFill>
                  <a:srgbClr val="FD1485"/>
                </a:solidFill>
                <a:latin typeface="Fjalla One"/>
              </a:rPr>
              <a:t>MIARTOS-Maintenance Intelligence And Resilient Task Orchestration System</a:t>
            </a:r>
          </a:p>
          <a:p>
            <a:pPr>
              <a:spcBef>
                <a:spcPts val="1000"/>
              </a:spcBef>
              <a:defRPr sz="1100" b="1">
                <a:solidFill>
                  <a:srgbClr val="353334"/>
                </a:solidFill>
                <a:latin typeface="Fjalla One"/>
              </a:defRPr>
            </a:pPr>
            <a:r>
              <a:rPr lang="en-US" sz="1100" b="1" dirty="0">
                <a:solidFill>
                  <a:srgbClr val="353334"/>
                </a:solidFill>
                <a:latin typeface="Fjalla One"/>
              </a:rPr>
              <a:t>ONE-LINE PITCH</a:t>
            </a:r>
          </a:p>
          <a:p>
            <a:pPr>
              <a:spcBef>
                <a:spcPts val="200"/>
              </a:spcBef>
              <a:defRPr sz="1050">
                <a:solidFill>
                  <a:srgbClr val="3C3C41"/>
                </a:solidFill>
                <a:latin typeface="Mulish"/>
              </a:defRPr>
            </a:pPr>
            <a:r>
              <a:rPr lang="en-US" sz="1050" dirty="0">
                <a:solidFill>
                  <a:srgbClr val="3C3C41"/>
                </a:solidFill>
                <a:latin typeface="Mulish"/>
              </a:rPr>
              <a:t>Intelligent service orchestration that validates maintenance requests, matches technicians and resources, handles exceptions dynamically, and builds a complete digital service history.</a:t>
            </a:r>
          </a:p>
          <a:p>
            <a:pPr>
              <a:spcBef>
                <a:spcPts val="1000"/>
              </a:spcBef>
              <a:defRPr sz="1100" b="1">
                <a:solidFill>
                  <a:srgbClr val="353334"/>
                </a:solidFill>
                <a:latin typeface="Fjalla One"/>
              </a:defRPr>
            </a:pPr>
            <a:r>
              <a:rPr lang="en-US" sz="1100" b="1" dirty="0">
                <a:solidFill>
                  <a:srgbClr val="353334"/>
                </a:solidFill>
                <a:latin typeface="Fjalla One"/>
              </a:rPr>
              <a:t>TRACK</a:t>
            </a:r>
          </a:p>
          <a:p>
            <a:pPr>
              <a:spcBef>
                <a:spcPts val="200"/>
              </a:spcBef>
              <a:defRPr sz="1050" b="1">
                <a:solidFill>
                  <a:srgbClr val="079ED2"/>
                </a:solidFill>
                <a:latin typeface="Mulish"/>
              </a:defRPr>
            </a:pPr>
            <a:r>
              <a:rPr lang="en-US" sz="1050" b="1" dirty="0">
                <a:solidFill>
                  <a:srgbClr val="079ED2"/>
                </a:solidFill>
                <a:latin typeface="Mulish"/>
              </a:rPr>
              <a:t>DQBH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92240" y="3246120"/>
            <a:ext cx="4572000" cy="2926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812280" y="311810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FFB903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353334"/>
                </a:solidFill>
                <a:latin typeface="Mulish"/>
              </a:defRPr>
            </a:pPr>
            <a:r>
              <a:t>TEAM &amp; MEMBERS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3520440"/>
            <a:ext cx="40233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3334"/>
                </a:solidFill>
                <a:latin typeface="Fjalla One"/>
              </a:defRPr>
            </a:pPr>
            <a:r>
              <a:rPr lang="en-US" sz="1100" b="1" dirty="0">
                <a:solidFill>
                  <a:srgbClr val="353334"/>
                </a:solidFill>
                <a:latin typeface="Fjalla One"/>
              </a:rPr>
              <a:t>TEAM</a:t>
            </a:r>
          </a:p>
          <a:p>
            <a:pPr>
              <a:spcBef>
                <a:spcPts val="200"/>
              </a:spcBef>
              <a:defRPr sz="1600" b="1">
                <a:solidFill>
                  <a:srgbClr val="353334"/>
                </a:solidFill>
                <a:latin typeface="Fjalla One"/>
              </a:defRPr>
            </a:pPr>
            <a:r>
              <a:rPr lang="en-US" sz="1600" b="1" dirty="0">
                <a:solidFill>
                  <a:srgbClr val="353334"/>
                </a:solidFill>
                <a:latin typeface="Fjalla One"/>
              </a:rPr>
              <a:t>SINISTER</a:t>
            </a:r>
          </a:p>
          <a:p>
            <a:pPr>
              <a:spcBef>
                <a:spcPts val="1000"/>
              </a:spcBef>
              <a:defRPr sz="1100" b="1">
                <a:solidFill>
                  <a:srgbClr val="353334"/>
                </a:solidFill>
                <a:latin typeface="Fjalla One"/>
              </a:defRPr>
            </a:pPr>
            <a:r>
              <a:rPr lang="en-US" sz="1100" b="1" dirty="0">
                <a:solidFill>
                  <a:srgbClr val="353334"/>
                </a:solidFill>
                <a:latin typeface="Fjalla One"/>
              </a:rPr>
              <a:t>PARTICIPANTS</a:t>
            </a:r>
          </a:p>
          <a:p>
            <a:pPr>
              <a:spcBef>
                <a:spcPts val="200"/>
              </a:spcBef>
              <a:defRPr sz="1050">
                <a:solidFill>
                  <a:srgbClr val="3C3C41"/>
                </a:solidFill>
                <a:latin typeface="Mulish"/>
              </a:defRPr>
            </a:pPr>
            <a:r>
              <a:rPr lang="en-US" sz="1050" dirty="0">
                <a:solidFill>
                  <a:srgbClr val="3C3C41"/>
                </a:solidFill>
                <a:latin typeface="Mulish"/>
              </a:rPr>
              <a:t>•  Nishanth P — 24BCE1078</a:t>
            </a:r>
          </a:p>
          <a:p>
            <a:pPr>
              <a:spcBef>
                <a:spcPts val="200"/>
              </a:spcBef>
              <a:defRPr sz="1050">
                <a:solidFill>
                  <a:srgbClr val="3C3C41"/>
                </a:solidFill>
                <a:latin typeface="Mulish"/>
              </a:defRPr>
            </a:pPr>
            <a:r>
              <a:rPr lang="en-US" sz="1050" dirty="0">
                <a:solidFill>
                  <a:srgbClr val="3C3C41"/>
                </a:solidFill>
                <a:latin typeface="Mulish"/>
              </a:rPr>
              <a:t>•  Divyaa Dharshini T — 24BCE5516</a:t>
            </a:r>
          </a:p>
          <a:p>
            <a:pPr>
              <a:spcBef>
                <a:spcPts val="200"/>
              </a:spcBef>
              <a:defRPr sz="1050">
                <a:solidFill>
                  <a:srgbClr val="3C3C41"/>
                </a:solidFill>
                <a:latin typeface="Mulish"/>
              </a:defRPr>
            </a:pPr>
            <a:r>
              <a:rPr lang="en-US" sz="1050" dirty="0">
                <a:solidFill>
                  <a:srgbClr val="3C3C41"/>
                </a:solidFill>
                <a:latin typeface="Mulish"/>
              </a:rPr>
              <a:t>•  Varsha S — 24BCE1127</a:t>
            </a:r>
          </a:p>
          <a:p>
            <a:pPr>
              <a:spcBef>
                <a:spcPts val="200"/>
              </a:spcBef>
              <a:defRPr sz="1050">
                <a:solidFill>
                  <a:srgbClr val="3C3C41"/>
                </a:solidFill>
                <a:latin typeface="Mulish"/>
              </a:defRPr>
            </a:pPr>
            <a:r>
              <a:rPr lang="en-US" sz="1050" dirty="0">
                <a:solidFill>
                  <a:srgbClr val="3C3C41"/>
                </a:solidFill>
                <a:latin typeface="Mulish"/>
              </a:rPr>
              <a:t>•  Prasanna K — 24BCE1024</a:t>
            </a:r>
          </a:p>
          <a:p>
            <a:pPr>
              <a:spcBef>
                <a:spcPts val="200"/>
              </a:spcBef>
              <a:defRPr sz="1050">
                <a:solidFill>
                  <a:srgbClr val="3C3C41"/>
                </a:solidFill>
                <a:latin typeface="Mulish"/>
              </a:defRPr>
            </a:pPr>
            <a:r>
              <a:rPr lang="en-US" sz="1050" dirty="0">
                <a:solidFill>
                  <a:srgbClr val="3C3C41"/>
                </a:solidFill>
                <a:latin typeface="Mulish"/>
              </a:rPr>
              <a:t>•  Tharun S — 24BEC1074</a:t>
            </a:r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182880" y="10515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182880" y="1453896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-182880" y="18562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521440" y="548640"/>
            <a:ext cx="219456" cy="164592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521440" y="713232"/>
            <a:ext cx="219456" cy="164592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521440" y="877824"/>
            <a:ext cx="219456" cy="164592"/>
          </a:xfrm>
          <a:prstGeom prst="rect">
            <a:avLst/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521440" y="1042416"/>
            <a:ext cx="219456" cy="164592"/>
          </a:xfrm>
          <a:prstGeom prst="rect">
            <a:avLst/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219456" cy="164592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5742432"/>
            <a:ext cx="219456" cy="164592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907024"/>
            <a:ext cx="219456" cy="164592"/>
          </a:xfrm>
          <a:prstGeom prst="rect">
            <a:avLst/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6071616"/>
            <a:ext cx="219456" cy="164592"/>
          </a:xfrm>
          <a:prstGeom prst="rect">
            <a:avLst/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087100" y="5934075"/>
            <a:ext cx="320040" cy="1905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237595" y="5783580"/>
            <a:ext cx="19050" cy="32004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1192256" y="5888736"/>
            <a:ext cx="109728" cy="109728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Arc 16"/>
          <p:cNvSpPr/>
          <p:nvPr/>
        </p:nvSpPr>
        <p:spPr>
          <a:xfrm>
            <a:off x="8412480" y="640080"/>
            <a:ext cx="1005840" cy="822960"/>
          </a:xfrm>
          <a:prstGeom prst="arc">
            <a:avLst/>
          </a:prstGeom>
          <a:noFill/>
          <a:ln w="19050">
            <a:solidFill>
              <a:srgbClr val="079E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371332" y="1010412"/>
            <a:ext cx="82296" cy="82296"/>
          </a:xfrm>
          <a:prstGeom prst="rect">
            <a:avLst/>
          </a:prstGeom>
          <a:solidFill>
            <a:srgbClr val="FFFFFF"/>
          </a:solidFill>
          <a:ln w="1778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377172" y="598932"/>
            <a:ext cx="82296" cy="82296"/>
          </a:xfrm>
          <a:prstGeom prst="rect">
            <a:avLst/>
          </a:prstGeom>
          <a:solidFill>
            <a:srgbClr val="FFFFFF"/>
          </a:solidFill>
          <a:ln w="1778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45920" y="384048"/>
            <a:ext cx="8229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53334"/>
                </a:solidFill>
                <a:latin typeface="Mulish"/>
              </a:defRPr>
            </a:pPr>
            <a:r>
              <a:t>DATAQUEST 3.0  ·  ROUND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621792"/>
            <a:ext cx="91440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600" b="1">
                <a:solidFill>
                  <a:srgbClr val="FD1485"/>
                </a:solidFill>
                <a:latin typeface="Fjalla One"/>
              </a:rPr>
              <a:t>02  </a:t>
            </a:r>
            <a:r>
              <a:rPr sz="3200" b="1">
                <a:solidFill>
                  <a:srgbClr val="353334"/>
                </a:solidFill>
                <a:latin typeface="Fjalla One"/>
              </a:rPr>
              <a:t>Problem Definition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0" y="1444752"/>
            <a:ext cx="9418320" cy="1905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45920" y="1517904"/>
            <a:ext cx="94183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>
                <a:solidFill>
                  <a:srgbClr val="6E6E73"/>
                </a:solidFill>
                <a:latin typeface="Mulish"/>
              </a:defRPr>
            </a:pPr>
            <a:r>
              <a:t>Who is impacted · Today's workarounds · Why current methods fail · Concrete proof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45920" y="2057400"/>
            <a:ext cx="4572000" cy="21488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965960" y="192938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079ED2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Mulish"/>
              </a:defRPr>
            </a:pPr>
            <a:r>
              <a:t>01 · AUDIENCE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2313432"/>
            <a:ext cx="4023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53334"/>
                </a:solidFill>
                <a:latin typeface="Fjalla One"/>
              </a:defRPr>
            </a:pPr>
            <a:r>
              <a:rPr lang="en-US" sz="1300" b="1" dirty="0">
                <a:solidFill>
                  <a:srgbClr val="353334"/>
                </a:solidFill>
                <a:latin typeface="Fjalla One"/>
              </a:rPr>
              <a:t>WHO &amp; HOW OFTEN</a:t>
            </a:r>
          </a:p>
          <a:p>
            <a:pPr>
              <a:spcBef>
                <a:spcPts val="400"/>
              </a:spcBef>
              <a:defRPr sz="1000">
                <a:solidFill>
                  <a:srgbClr val="3C3C41"/>
                </a:solidFill>
                <a:latin typeface="Mulish"/>
              </a:defRPr>
            </a:pPr>
            <a:r>
              <a:rPr lang="en-US" sz="1000" dirty="0">
                <a:solidFill>
                  <a:srgbClr val="3C3C41"/>
                </a:solidFill>
                <a:latin typeface="Mulish"/>
              </a:rPr>
              <a:t>Industrial equipment operators, service managers, field technicians and inventory teams managing equipment across multiple sites.</a:t>
            </a:r>
          </a:p>
          <a:p>
            <a:pPr>
              <a:spcBef>
                <a:spcPts val="600"/>
              </a:spcBef>
              <a:defRPr sz="1000">
                <a:solidFill>
                  <a:srgbClr val="3C3C41"/>
                </a:solidFill>
                <a:latin typeface="Mulish"/>
              </a:defRPr>
            </a:pPr>
            <a:r>
              <a:rPr lang="en-US" sz="1000" dirty="0">
                <a:solidFill>
                  <a:srgbClr val="3C3C41"/>
                </a:solidFill>
                <a:latin typeface="Mulish"/>
              </a:rPr>
              <a:t>Maintenance events occur through </a:t>
            </a:r>
            <a:r>
              <a:rPr lang="en-US" sz="1000" b="1" dirty="0">
                <a:solidFill>
                  <a:srgbClr val="3C3C41"/>
                </a:solidFill>
                <a:latin typeface="Mulish"/>
              </a:rPr>
              <a:t>periodic, reactive and predictive</a:t>
            </a:r>
            <a:r>
              <a:rPr lang="en-US" sz="1000" dirty="0">
                <a:solidFill>
                  <a:srgbClr val="3C3C41"/>
                </a:solidFill>
                <a:latin typeface="Mulish"/>
              </a:rPr>
              <a:t> workflows, requiring continuous coordination between people, machines, parts and locations.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2057400"/>
            <a:ext cx="4572000" cy="21488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812280" y="192938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FFB903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353334"/>
                </a:solidFill>
                <a:latin typeface="Mulish"/>
              </a:defRPr>
            </a:pPr>
            <a:r>
              <a:t>02 · STATUS QUO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2313432"/>
            <a:ext cx="4023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53334"/>
                </a:solidFill>
                <a:latin typeface="Fjalla One"/>
              </a:defRPr>
            </a:pPr>
            <a:r>
              <a:rPr lang="en-US" sz="1300" b="1" dirty="0">
                <a:solidFill>
                  <a:srgbClr val="353334"/>
                </a:solidFill>
                <a:latin typeface="Fjalla One"/>
              </a:rPr>
              <a:t>CURRENT APPROACH</a:t>
            </a:r>
          </a:p>
          <a:p>
            <a:pPr>
              <a:spcBef>
                <a:spcPts val="400"/>
              </a:spcBef>
              <a:defRPr sz="1000">
                <a:solidFill>
                  <a:srgbClr val="3C3C41"/>
                </a:solidFill>
                <a:latin typeface="Mulish"/>
              </a:defRPr>
            </a:pPr>
            <a:r>
              <a:rPr lang="en-US" sz="1000" dirty="0">
                <a:solidFill>
                  <a:srgbClr val="3C3C41"/>
                </a:solidFill>
                <a:latin typeface="Mulish"/>
              </a:rPr>
              <a:t>Maintenance requests, technician assignment, spare-part checks, approvals, dispatch and service history are often handled through fragmented workflows.</a:t>
            </a:r>
          </a:p>
          <a:p>
            <a:pPr>
              <a:spcBef>
                <a:spcPts val="600"/>
              </a:spcBef>
              <a:defRPr sz="1000">
                <a:solidFill>
                  <a:srgbClr val="3C3C41"/>
                </a:solidFill>
                <a:latin typeface="Mulish"/>
              </a:defRPr>
            </a:pPr>
            <a:r>
              <a:rPr lang="en-US" sz="1000" dirty="0">
                <a:solidFill>
                  <a:srgbClr val="3C3C41"/>
                </a:solidFill>
                <a:latin typeface="Mulish"/>
              </a:rPr>
              <a:t>Teams manually coordinate technicians, resources, inventory and exceptions across different operational systems.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645920" y="4389120"/>
            <a:ext cx="4572000" cy="21488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965960" y="426110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FD1485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Mulish"/>
              </a:defRPr>
            </a:pPr>
            <a:r>
              <a:t>03 · DEFICIENCY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4645152"/>
            <a:ext cx="4023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53334"/>
                </a:solidFill>
                <a:latin typeface="Fjalla One"/>
              </a:defRPr>
            </a:pPr>
            <a:r>
              <a:rPr lang="en-US" sz="1300" b="1" dirty="0">
                <a:solidFill>
                  <a:srgbClr val="353334"/>
                </a:solidFill>
                <a:latin typeface="Fjalla One"/>
              </a:rPr>
              <a:t>WHY IT FALLS SHORT</a:t>
            </a:r>
          </a:p>
          <a:p>
            <a:pPr marL="171450" indent="-171450">
              <a:spcBef>
                <a:spcPts val="300"/>
              </a:spcBef>
              <a:buClr>
                <a:srgbClr val="FD1485"/>
              </a:buClr>
              <a:buFont typeface="Arial"/>
              <a:buChar char="•"/>
              <a:defRPr sz="1000">
                <a:solidFill>
                  <a:srgbClr val="3C3C41"/>
                </a:solidFill>
                <a:latin typeface="Mulish"/>
              </a:defRPr>
            </a:pPr>
            <a:r>
              <a:rPr lang="en-US" sz="1000" dirty="0">
                <a:solidFill>
                  <a:srgbClr val="3C3C41"/>
                </a:solidFill>
                <a:latin typeface="Mulish"/>
              </a:rPr>
              <a:t>Slow, manual technician assignment</a:t>
            </a:r>
          </a:p>
          <a:p>
            <a:pPr marL="171450" indent="-171450">
              <a:spcBef>
                <a:spcPts val="300"/>
              </a:spcBef>
              <a:buClr>
                <a:srgbClr val="FD1485"/>
              </a:buClr>
              <a:buFont typeface="Arial"/>
              <a:buChar char="•"/>
              <a:defRPr sz="1000">
                <a:solidFill>
                  <a:srgbClr val="3C3C41"/>
                </a:solidFill>
                <a:latin typeface="Mulish"/>
              </a:defRPr>
            </a:pPr>
            <a:r>
              <a:rPr lang="en-US" sz="1000" dirty="0">
                <a:solidFill>
                  <a:srgbClr val="3C3C41"/>
                </a:solidFill>
                <a:latin typeface="Mulish"/>
              </a:rPr>
              <a:t>Limited technician/resource visibility</a:t>
            </a:r>
          </a:p>
          <a:p>
            <a:pPr marL="171450" indent="-171450">
              <a:spcBef>
                <a:spcPts val="300"/>
              </a:spcBef>
              <a:buClr>
                <a:srgbClr val="FD1485"/>
              </a:buClr>
              <a:buFont typeface="Arial"/>
              <a:buChar char="•"/>
              <a:defRPr sz="1000">
                <a:solidFill>
                  <a:srgbClr val="3C3C41"/>
                </a:solidFill>
                <a:latin typeface="Mulish"/>
              </a:defRPr>
            </a:pPr>
            <a:r>
              <a:rPr lang="en-US" sz="1000" dirty="0">
                <a:solidFill>
                  <a:srgbClr val="3C3C41"/>
                </a:solidFill>
                <a:latin typeface="Mulish"/>
              </a:rPr>
              <a:t>Spare-part shortages disrupt jobs</a:t>
            </a:r>
          </a:p>
          <a:p>
            <a:pPr marL="171450" indent="-171450">
              <a:spcBef>
                <a:spcPts val="300"/>
              </a:spcBef>
              <a:buClr>
                <a:srgbClr val="FD1485"/>
              </a:buClr>
              <a:buFont typeface="Arial"/>
              <a:buChar char="•"/>
              <a:defRPr sz="1000">
                <a:solidFill>
                  <a:srgbClr val="3C3C41"/>
                </a:solidFill>
                <a:latin typeface="Mulish"/>
              </a:defRPr>
            </a:pPr>
            <a:r>
              <a:rPr lang="en-US" sz="1000" dirty="0">
                <a:solidFill>
                  <a:srgbClr val="3C3C41"/>
                </a:solidFill>
                <a:latin typeface="Mulish"/>
              </a:rPr>
              <a:t>Technician unavailability causes delays</a:t>
            </a:r>
          </a:p>
          <a:p>
            <a:pPr marL="171450" indent="-171450">
              <a:spcBef>
                <a:spcPts val="300"/>
              </a:spcBef>
              <a:buClr>
                <a:srgbClr val="FD1485"/>
              </a:buClr>
              <a:buFont typeface="Arial"/>
              <a:buChar char="•"/>
              <a:defRPr sz="1000">
                <a:solidFill>
                  <a:srgbClr val="3C3C41"/>
                </a:solidFill>
                <a:latin typeface="Mulish"/>
              </a:defRPr>
            </a:pPr>
            <a:r>
              <a:rPr lang="en-US" sz="1000" dirty="0">
                <a:solidFill>
                  <a:srgbClr val="3C3C41"/>
                </a:solidFill>
                <a:latin typeface="Mulish"/>
              </a:rPr>
              <a:t>SLA risks are detected too late</a:t>
            </a:r>
          </a:p>
          <a:p>
            <a:pPr marL="171450" indent="-171450">
              <a:spcBef>
                <a:spcPts val="300"/>
              </a:spcBef>
              <a:buClr>
                <a:srgbClr val="FD1485"/>
              </a:buClr>
              <a:buFont typeface="Arial"/>
              <a:buChar char="•"/>
              <a:defRPr sz="1000">
                <a:solidFill>
                  <a:srgbClr val="3C3C41"/>
                </a:solidFill>
                <a:latin typeface="Mulish"/>
              </a:defRPr>
            </a:pPr>
            <a:r>
              <a:rPr lang="en-US" sz="1000" dirty="0">
                <a:solidFill>
                  <a:srgbClr val="3C3C41"/>
                </a:solidFill>
                <a:latin typeface="Mulish"/>
              </a:rPr>
              <a:t>Exceptions require manual coordination</a:t>
            </a:r>
          </a:p>
          <a:p>
            <a:pPr marL="171450" indent="-171450">
              <a:spcBef>
                <a:spcPts val="300"/>
              </a:spcBef>
              <a:buClr>
                <a:srgbClr val="FD1485"/>
              </a:buClr>
              <a:buFont typeface="Arial"/>
              <a:buChar char="•"/>
              <a:defRPr sz="1000">
                <a:solidFill>
                  <a:srgbClr val="3C3C41"/>
                </a:solidFill>
                <a:latin typeface="Mulish"/>
              </a:defRPr>
            </a:pPr>
            <a:r>
              <a:rPr lang="en-US" sz="1000" dirty="0">
                <a:solidFill>
                  <a:srgbClr val="3C3C41"/>
                </a:solidFill>
                <a:latin typeface="Mulish"/>
              </a:rPr>
              <a:t>Service history remains fragmented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92240" y="4389120"/>
            <a:ext cx="4572000" cy="21488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812280" y="426110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353334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Mulish"/>
              </a:defRPr>
            </a:pPr>
            <a:r>
              <a:t>04 · VALIDATION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4645152"/>
            <a:ext cx="4023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53334"/>
                </a:solidFill>
                <a:latin typeface="Fjalla One"/>
              </a:defRPr>
            </a:pPr>
            <a:r>
              <a:rPr lang="en-US" sz="1300" b="1" dirty="0">
                <a:solidFill>
                  <a:srgbClr val="353334"/>
                </a:solidFill>
                <a:latin typeface="Fjalla One"/>
              </a:rPr>
              <a:t>EVIDENCE</a:t>
            </a:r>
          </a:p>
          <a:p>
            <a:pPr>
              <a:spcBef>
                <a:spcPts val="400"/>
              </a:spcBef>
              <a:defRPr sz="1000">
                <a:solidFill>
                  <a:srgbClr val="3C3C41"/>
                </a:solidFill>
                <a:latin typeface="Mulish"/>
              </a:defRPr>
            </a:pPr>
            <a:r>
              <a:rPr lang="en-US" sz="1000" dirty="0">
                <a:solidFill>
                  <a:srgbClr val="3C3C41"/>
                </a:solidFill>
                <a:latin typeface="Mulish"/>
              </a:rPr>
              <a:t>The DATAQUEST problem requires validation of:</a:t>
            </a:r>
          </a:p>
          <a:p>
            <a:pPr>
              <a:spcBef>
                <a:spcPts val="300"/>
              </a:spcBef>
              <a:defRPr sz="1000">
                <a:solidFill>
                  <a:srgbClr val="3C3C41"/>
                </a:solidFill>
                <a:latin typeface="Mulish"/>
              </a:defRPr>
            </a:pPr>
            <a:r>
              <a:rPr lang="en-US" sz="1000" b="1" dirty="0">
                <a:solidFill>
                  <a:srgbClr val="FD1485"/>
                </a:solidFill>
                <a:latin typeface="Mulish"/>
              </a:rPr>
              <a:t>equipment eligibility + priority + location + technician skills + availability + spare parts</a:t>
            </a:r>
          </a:p>
          <a:p>
            <a:pPr>
              <a:spcBef>
                <a:spcPts val="300"/>
              </a:spcBef>
              <a:defRPr sz="1000">
                <a:solidFill>
                  <a:srgbClr val="3C3C41"/>
                </a:solidFill>
                <a:latin typeface="Mulish"/>
              </a:defRPr>
            </a:pPr>
            <a:r>
              <a:rPr lang="en-US" sz="1000" dirty="0">
                <a:solidFill>
                  <a:srgbClr val="3C3C41"/>
                </a:solidFill>
                <a:latin typeface="Mulish"/>
              </a:rPr>
              <a:t>along with dynamic assignment, exception handling, SLA awareness and centralized visibility.</a:t>
            </a:r>
          </a:p>
          <a:p>
            <a:pPr>
              <a:spcBef>
                <a:spcPts val="500"/>
              </a:spcBef>
              <a:defRPr sz="900" i="1">
                <a:solidFill>
                  <a:srgbClr val="6E6E73"/>
                </a:solidFill>
                <a:latin typeface="Mulish"/>
              </a:defRPr>
            </a:pPr>
            <a:r>
              <a:rPr lang="en-US" sz="900" i="1" dirty="0">
                <a:solidFill>
                  <a:srgbClr val="6E6E73"/>
                </a:solidFill>
                <a:latin typeface="Mulish"/>
              </a:rPr>
              <a:t>Validation basis: Official DATAQUEST 3.0 problem requirements.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182880" y="10515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182880" y="1453896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-182880" y="18562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521440" y="548640"/>
            <a:ext cx="219456" cy="164592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521440" y="713232"/>
            <a:ext cx="219456" cy="164592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521440" y="877824"/>
            <a:ext cx="219456" cy="164592"/>
          </a:xfrm>
          <a:prstGeom prst="rect">
            <a:avLst/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521440" y="1042416"/>
            <a:ext cx="219456" cy="164592"/>
          </a:xfrm>
          <a:prstGeom prst="rect">
            <a:avLst/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219456" cy="164592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5742432"/>
            <a:ext cx="219456" cy="164592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907024"/>
            <a:ext cx="219456" cy="164592"/>
          </a:xfrm>
          <a:prstGeom prst="rect">
            <a:avLst/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6071616"/>
            <a:ext cx="219456" cy="164592"/>
          </a:xfrm>
          <a:prstGeom prst="rect">
            <a:avLst/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087100" y="5934075"/>
            <a:ext cx="320040" cy="1905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237595" y="5783580"/>
            <a:ext cx="19050" cy="32004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1192256" y="5888736"/>
            <a:ext cx="109728" cy="109728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Arc 16"/>
          <p:cNvSpPr/>
          <p:nvPr/>
        </p:nvSpPr>
        <p:spPr>
          <a:xfrm>
            <a:off x="8412480" y="640080"/>
            <a:ext cx="1005840" cy="822960"/>
          </a:xfrm>
          <a:prstGeom prst="arc">
            <a:avLst/>
          </a:prstGeom>
          <a:noFill/>
          <a:ln w="19050">
            <a:solidFill>
              <a:srgbClr val="079E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371332" y="1010412"/>
            <a:ext cx="82296" cy="82296"/>
          </a:xfrm>
          <a:prstGeom prst="rect">
            <a:avLst/>
          </a:prstGeom>
          <a:solidFill>
            <a:srgbClr val="FFFFFF"/>
          </a:solidFill>
          <a:ln w="1778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377172" y="598932"/>
            <a:ext cx="82296" cy="82296"/>
          </a:xfrm>
          <a:prstGeom prst="rect">
            <a:avLst/>
          </a:prstGeom>
          <a:solidFill>
            <a:srgbClr val="FFFFFF"/>
          </a:solidFill>
          <a:ln w="1778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45920" y="384048"/>
            <a:ext cx="8229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53334"/>
                </a:solidFill>
                <a:latin typeface="Mulish"/>
              </a:defRPr>
            </a:pPr>
            <a:r>
              <a:t>DATAQUEST 3.0  ·  ROUND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621792"/>
            <a:ext cx="91440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600" b="1">
                <a:solidFill>
                  <a:srgbClr val="FD1485"/>
                </a:solidFill>
                <a:latin typeface="Fjalla One"/>
              </a:rPr>
              <a:t>03  </a:t>
            </a:r>
            <a:r>
              <a:rPr sz="3200" b="1">
                <a:solidFill>
                  <a:srgbClr val="353334"/>
                </a:solidFill>
                <a:latin typeface="Fjalla One"/>
              </a:rPr>
              <a:t>Proposed Solution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0" y="1444752"/>
            <a:ext cx="9418320" cy="1905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45920" y="1517904"/>
            <a:ext cx="94183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>
                <a:solidFill>
                  <a:srgbClr val="6E6E73"/>
                </a:solidFill>
                <a:latin typeface="Mulish"/>
              </a:defRPr>
            </a:pPr>
            <a:r>
              <a:t>System identity · End-to-end user workflow · Competitive advantages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45920" y="2011680"/>
            <a:ext cx="9418320" cy="11887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965960" y="188366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FD1485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Mulish"/>
              </a:defRPr>
            </a:pPr>
            <a:r>
              <a:t>SOLUTION 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2194560"/>
            <a:ext cx="8869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53334"/>
                </a:solidFill>
                <a:latin typeface="Fjalla One"/>
              </a:defRPr>
            </a:pPr>
            <a:r>
              <a:rPr lang="en-US" sz="1600" b="1" dirty="0">
                <a:solidFill>
                  <a:srgbClr val="353334"/>
                </a:solidFill>
                <a:latin typeface="Fjalla One"/>
              </a:rPr>
              <a:t>DQBH — Intelligent Industrial Equipment Service Orchestration</a:t>
            </a:r>
          </a:p>
          <a:p>
            <a:pPr>
              <a:spcBef>
                <a:spcPts val="300"/>
              </a:spcBef>
              <a:defRPr sz="1000">
                <a:solidFill>
                  <a:srgbClr val="3C3C41"/>
                </a:solidFill>
                <a:latin typeface="Mulish"/>
              </a:defRPr>
            </a:pPr>
            <a:r>
              <a:rPr lang="en-US" sz="1000" dirty="0">
                <a:solidFill>
                  <a:srgbClr val="3C3C41"/>
                </a:solidFill>
                <a:latin typeface="Mulish"/>
              </a:rPr>
              <a:t>DQBH converts maintenance events into governed work orders and orchestrates the complete lifecycle, from </a:t>
            </a:r>
            <a:r>
              <a:rPr lang="en-US" sz="1000" b="1" dirty="0">
                <a:solidFill>
                  <a:srgbClr val="3C3C41"/>
                </a:solidFill>
                <a:latin typeface="Mulish"/>
              </a:rPr>
              <a:t>AI-assisted understanding and deterministic validation</a:t>
            </a:r>
            <a:r>
              <a:rPr lang="en-US" sz="1000" dirty="0">
                <a:solidFill>
                  <a:srgbClr val="3C3C41"/>
                </a:solidFill>
                <a:latin typeface="Mulish"/>
              </a:rPr>
              <a:t> to resource matching, execution, exception recovery, verification and service history.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45920" y="3383280"/>
            <a:ext cx="9418320" cy="12801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1965960" y="325526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079ED2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Mulish"/>
              </a:defRPr>
            </a:pPr>
            <a:r>
              <a:t>USER FLOW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920240" y="3739896"/>
            <a:ext cx="256032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79E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1000" b="1">
                <a:solidFill>
                  <a:srgbClr val="353334"/>
                </a:solidFill>
                <a:latin typeface="Fjalla One"/>
              </a:defRPr>
            </a:pPr>
            <a:r>
              <a:rPr lang="en-US" sz="1000" b="1" dirty="0">
                <a:solidFill>
                  <a:srgbClr val="353334"/>
                </a:solidFill>
                <a:latin typeface="Fjalla One"/>
              </a:rPr>
              <a:t>1. USER INPUT</a:t>
            </a:r>
          </a:p>
          <a:p>
            <a:pPr algn="ctr">
              <a:defRPr sz="850">
                <a:solidFill>
                  <a:srgbClr val="3C3C41"/>
                </a:solidFill>
                <a:latin typeface="Mulish"/>
              </a:defRPr>
            </a:pPr>
            <a:r>
              <a:rPr lang="en-US" sz="850" dirty="0">
                <a:solidFill>
                  <a:srgbClr val="3C3C41"/>
                </a:solidFill>
                <a:latin typeface="Mulish"/>
              </a:rPr>
              <a:t>Machine + Issue + Location + Priority + Evidence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0288" y="3959352"/>
            <a:ext cx="32918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800" b="1">
                <a:solidFill>
                  <a:srgbClr val="353334"/>
                </a:solidFill>
                <a:latin typeface="Mulish"/>
              </a:defRPr>
            </a:pPr>
            <a:r>
              <a:t>➔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0" y="3739896"/>
            <a:ext cx="256032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FB9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1000" b="1">
                <a:solidFill>
                  <a:srgbClr val="353334"/>
                </a:solidFill>
                <a:latin typeface="Fjalla One"/>
              </a:defRPr>
            </a:pPr>
            <a:r>
              <a:rPr lang="en-US" sz="1000" b="1" dirty="0">
                <a:solidFill>
                  <a:srgbClr val="353334"/>
                </a:solidFill>
                <a:latin typeface="Fjalla One"/>
              </a:rPr>
              <a:t>2. PROCESSING</a:t>
            </a:r>
          </a:p>
          <a:p>
            <a:pPr algn="ctr">
              <a:defRPr sz="850">
                <a:solidFill>
                  <a:srgbClr val="3C3C41"/>
                </a:solidFill>
                <a:latin typeface="Mulish"/>
              </a:defRPr>
            </a:pPr>
            <a:r>
              <a:rPr lang="en-US" sz="850" dirty="0">
                <a:solidFill>
                  <a:srgbClr val="3C3C41"/>
                </a:solidFill>
                <a:latin typeface="Mulish"/>
              </a:rPr>
              <a:t>AI Classification → Validation → SLA → Resource Planning → Technician Matching → Inventory → Approval → Dispatch → Execution → Exception Detection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99248" y="3959352"/>
            <a:ext cx="32918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800" b="1">
                <a:solidFill>
                  <a:srgbClr val="353334"/>
                </a:solidFill>
                <a:latin typeface="Mulish"/>
              </a:defRPr>
            </a:pPr>
            <a:r>
              <a:t>➔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60" y="3739896"/>
            <a:ext cx="256032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1000" b="1">
                <a:solidFill>
                  <a:srgbClr val="353334"/>
                </a:solidFill>
                <a:latin typeface="Fjalla One"/>
              </a:defRPr>
            </a:pPr>
            <a:r>
              <a:rPr lang="en-US" sz="1000" b="1" dirty="0">
                <a:solidFill>
                  <a:srgbClr val="353334"/>
                </a:solidFill>
                <a:latin typeface="Fjalla One"/>
              </a:rPr>
              <a:t>3. OUTPUT</a:t>
            </a:r>
          </a:p>
          <a:p>
            <a:pPr algn="ctr">
              <a:defRPr sz="850">
                <a:solidFill>
                  <a:srgbClr val="3C3C41"/>
                </a:solidFill>
                <a:latin typeface="Mulish"/>
              </a:defRPr>
            </a:pPr>
            <a:r>
              <a:rPr lang="en-US" sz="850" dirty="0">
                <a:solidFill>
                  <a:srgbClr val="3C3C41"/>
                </a:solidFill>
                <a:latin typeface="Mulish"/>
              </a:rPr>
              <a:t>Right Technician + Right Resources + Dynamic Recovery + Verified Completion + Digital Service History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645920" y="4846320"/>
            <a:ext cx="4572000" cy="1691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1965960" y="471830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FFB903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353334"/>
                </a:solidFill>
                <a:latin typeface="Mulish"/>
              </a:defRPr>
            </a:pPr>
            <a:r>
              <a:t>ADVANTAGE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20240" y="5074920"/>
            <a:ext cx="4023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53334"/>
                </a:solidFill>
                <a:latin typeface="Fjalla One"/>
              </a:defRPr>
            </a:pPr>
            <a:r>
              <a:rPr lang="en-US" sz="1200" b="1" dirty="0">
                <a:solidFill>
                  <a:srgbClr val="353334"/>
                </a:solidFill>
                <a:latin typeface="Fjalla One"/>
              </a:rPr>
              <a:t>WHY IT IS BETTER</a:t>
            </a:r>
          </a:p>
          <a:p>
            <a:pPr>
              <a:spcBef>
                <a:spcPts val="300"/>
              </a:spcBef>
              <a:defRPr sz="1000">
                <a:solidFill>
                  <a:srgbClr val="3C3C41"/>
                </a:solidFill>
                <a:latin typeface="Mulish"/>
              </a:defRPr>
            </a:pPr>
            <a:r>
              <a:rPr lang="en-US" sz="1000" dirty="0">
                <a:solidFill>
                  <a:srgbClr val="3C3C41"/>
                </a:solidFill>
                <a:latin typeface="Mulish"/>
              </a:rPr>
              <a:t>One workflow coordinates </a:t>
            </a:r>
            <a:r>
              <a:rPr lang="en-US" sz="1000" b="1" dirty="0">
                <a:solidFill>
                  <a:srgbClr val="3C3C41"/>
                </a:solidFill>
                <a:latin typeface="Mulish"/>
              </a:rPr>
              <a:t>people, machines, skills, location, SLA, parts, tools, approvals and execution</a:t>
            </a:r>
            <a:r>
              <a:rPr lang="en-US" sz="1000" dirty="0">
                <a:solidFill>
                  <a:srgbClr val="3C3C41"/>
                </a:solidFill>
                <a:latin typeface="Mulish"/>
              </a:rPr>
              <a:t> instead of treating maintenance as isolated tickets.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92240" y="4846320"/>
            <a:ext cx="4572000" cy="16916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6812280" y="471830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FD1485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Mulish"/>
              </a:defRPr>
            </a:pPr>
            <a:r>
              <a:t>INNOVATION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5074920"/>
            <a:ext cx="40233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53334"/>
                </a:solidFill>
                <a:latin typeface="Fjalla One"/>
              </a:defRPr>
            </a:pPr>
            <a:r>
              <a:rPr lang="en-US" sz="1200" b="1" dirty="0">
                <a:solidFill>
                  <a:srgbClr val="353334"/>
                </a:solidFill>
                <a:latin typeface="Fjalla One"/>
              </a:rPr>
              <a:t>WHAT IS DIFFERENT</a:t>
            </a:r>
          </a:p>
          <a:p>
            <a:pPr>
              <a:spcBef>
                <a:spcPts val="300"/>
              </a:spcBef>
              <a:defRPr sz="1000">
                <a:solidFill>
                  <a:srgbClr val="3C3C41"/>
                </a:solidFill>
                <a:latin typeface="Mulish"/>
              </a:defRPr>
            </a:pPr>
            <a:r>
              <a:rPr lang="en-US" sz="1000" b="1" dirty="0">
                <a:solidFill>
                  <a:srgbClr val="FD1485"/>
                </a:solidFill>
                <a:latin typeface="Mulish"/>
              </a:rPr>
              <a:t>AI recommends. Deterministic services decide and execute.</a:t>
            </a:r>
          </a:p>
          <a:p>
            <a:pPr>
              <a:spcBef>
                <a:spcPts val="300"/>
              </a:spcBef>
              <a:defRPr sz="1000">
                <a:solidFill>
                  <a:srgbClr val="3C3C41"/>
                </a:solidFill>
                <a:latin typeface="Mulish"/>
              </a:defRPr>
            </a:pPr>
            <a:r>
              <a:rPr lang="en-US" sz="1000" dirty="0">
                <a:solidFill>
                  <a:srgbClr val="3C3C41"/>
                </a:solidFill>
                <a:latin typeface="Mulish"/>
              </a:rPr>
              <a:t>Structured AI recommendations are validated against operational rules before assignments, reservations and workflow changes occur.</a:t>
            </a:r>
          </a:p>
          <a:p>
            <a:pPr>
              <a:spcBef>
                <a:spcPts val="300"/>
              </a:spcBef>
              <a:defRPr sz="1000">
                <a:solidFill>
                  <a:srgbClr val="3C3C41"/>
                </a:solidFill>
                <a:latin typeface="Mulish"/>
              </a:defRPr>
            </a:pPr>
            <a:r>
              <a:rPr lang="en-US" sz="1000" dirty="0">
                <a:solidFill>
                  <a:srgbClr val="3C3C41"/>
                </a:solidFill>
                <a:latin typeface="Mulish"/>
              </a:rPr>
              <a:t>Exception detection + dynamic reassignment closes the loop.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182880" y="10515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182880" y="1453896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-182880" y="18562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521440" y="548640"/>
            <a:ext cx="219456" cy="164592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521440" y="713232"/>
            <a:ext cx="219456" cy="164592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521440" y="877824"/>
            <a:ext cx="219456" cy="164592"/>
          </a:xfrm>
          <a:prstGeom prst="rect">
            <a:avLst/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521440" y="1042416"/>
            <a:ext cx="219456" cy="164592"/>
          </a:xfrm>
          <a:prstGeom prst="rect">
            <a:avLst/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219456" cy="164592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5742432"/>
            <a:ext cx="219456" cy="164592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907024"/>
            <a:ext cx="219456" cy="164592"/>
          </a:xfrm>
          <a:prstGeom prst="rect">
            <a:avLst/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6071616"/>
            <a:ext cx="219456" cy="164592"/>
          </a:xfrm>
          <a:prstGeom prst="rect">
            <a:avLst/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087100" y="5934075"/>
            <a:ext cx="320040" cy="1905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237595" y="5783580"/>
            <a:ext cx="19050" cy="32004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1192256" y="5888736"/>
            <a:ext cx="109728" cy="109728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Arc 16"/>
          <p:cNvSpPr/>
          <p:nvPr/>
        </p:nvSpPr>
        <p:spPr>
          <a:xfrm>
            <a:off x="8412480" y="640080"/>
            <a:ext cx="1005840" cy="822960"/>
          </a:xfrm>
          <a:prstGeom prst="arc">
            <a:avLst/>
          </a:prstGeom>
          <a:noFill/>
          <a:ln w="19050">
            <a:solidFill>
              <a:srgbClr val="079E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371332" y="1010412"/>
            <a:ext cx="82296" cy="82296"/>
          </a:xfrm>
          <a:prstGeom prst="rect">
            <a:avLst/>
          </a:prstGeom>
          <a:solidFill>
            <a:srgbClr val="FFFFFF"/>
          </a:solidFill>
          <a:ln w="1778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377172" y="598932"/>
            <a:ext cx="82296" cy="82296"/>
          </a:xfrm>
          <a:prstGeom prst="rect">
            <a:avLst/>
          </a:prstGeom>
          <a:solidFill>
            <a:srgbClr val="FFFFFF"/>
          </a:solidFill>
          <a:ln w="1778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45920" y="384048"/>
            <a:ext cx="8229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53334"/>
                </a:solidFill>
                <a:latin typeface="Mulish"/>
              </a:defRPr>
            </a:pPr>
            <a:r>
              <a:t>DATAQUEST 3.0  ·  ROUND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621792"/>
            <a:ext cx="91440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600" b="1">
                <a:solidFill>
                  <a:srgbClr val="FD1485"/>
                </a:solidFill>
                <a:latin typeface="Fjalla One"/>
              </a:rPr>
              <a:t>04  </a:t>
            </a:r>
            <a:r>
              <a:rPr sz="3200" b="1">
                <a:solidFill>
                  <a:srgbClr val="353334"/>
                </a:solidFill>
                <a:latin typeface="Fjalla One"/>
              </a:rPr>
              <a:t>System Architecture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0" y="1444752"/>
            <a:ext cx="9418320" cy="1905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45920" y="1517904"/>
            <a:ext cx="94183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>
                <a:solidFill>
                  <a:srgbClr val="6E6E73"/>
                </a:solidFill>
                <a:latin typeface="Mulish"/>
              </a:defRPr>
            </a:pPr>
            <a:r>
              <a:t>System diagram is the primary visual · Engineering decisions · Validation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45920" y="2011680"/>
            <a:ext cx="9418320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965960" y="188366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353334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Mulish"/>
              </a:defRPr>
            </a:pPr>
            <a:r>
              <a:t>SYSTEM DIAGRAM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920240" y="2331720"/>
            <a:ext cx="8869680" cy="2148840"/>
          </a:xfrm>
          <a:prstGeom prst="roundRect">
            <a:avLst>
              <a:gd name="adj" fmla="val 3500"/>
            </a:avLst>
          </a:prstGeom>
          <a:solidFill>
            <a:srgbClr val="FFFFF1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1645920" y="4892040"/>
            <a:ext cx="2971800" cy="1645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965960" y="476402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FFB903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353334"/>
                </a:solidFill>
                <a:latin typeface="Mulish"/>
              </a:defRPr>
            </a:pPr>
            <a:r>
              <a:t>TECH 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5093208"/>
            <a:ext cx="2606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3334"/>
                </a:solidFill>
                <a:latin typeface="Fjalla One"/>
              </a:defRPr>
            </a:pPr>
            <a:r>
              <a:rPr lang="en-US" sz="1100" b="1" dirty="0">
                <a:solidFill>
                  <a:srgbClr val="353334"/>
                </a:solidFill>
                <a:latin typeface="Fjalla One"/>
              </a:rPr>
              <a:t>KEY TECHNICAL DECISION</a:t>
            </a:r>
          </a:p>
          <a:p>
            <a:pPr>
              <a:spcBef>
                <a:spcPts val="300"/>
              </a:spcBef>
              <a:defRPr sz="950" b="1">
                <a:solidFill>
                  <a:srgbClr val="FD1485"/>
                </a:solidFill>
                <a:latin typeface="Mulish"/>
              </a:defRPr>
            </a:pPr>
            <a:r>
              <a:rPr lang="en-US" sz="950" b="1" dirty="0">
                <a:solidFill>
                  <a:srgbClr val="FD1485"/>
                </a:solidFill>
                <a:latin typeface="Mulish"/>
              </a:rPr>
              <a:t>React + FastAPI + PostgreSQL</a:t>
            </a:r>
          </a:p>
          <a:p>
            <a:pPr>
              <a:spcBef>
                <a:spcPts val="3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dirty="0">
                <a:solidFill>
                  <a:srgbClr val="3C3C41"/>
                </a:solidFill>
                <a:latin typeface="Mulish"/>
              </a:rPr>
              <a:t>React/Vite for rapid modular UI, FastAPI for Python-native API and AI integration, and PostgreSQL for reliable transactional state across assignments, inventory and workflows.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64608" y="4892040"/>
            <a:ext cx="2971800" cy="1645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184648" y="476402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FD1485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Mulish"/>
              </a:defRPr>
            </a:pPr>
            <a:r>
              <a:t>TECH 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5093208"/>
            <a:ext cx="2606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3334"/>
                </a:solidFill>
                <a:latin typeface="Fjalla One"/>
              </a:defRPr>
            </a:pPr>
            <a:r>
              <a:rPr lang="en-US" sz="1100" b="1" dirty="0">
                <a:solidFill>
                  <a:srgbClr val="353334"/>
                </a:solidFill>
                <a:latin typeface="Fjalla One"/>
              </a:rPr>
              <a:t>HARDEST PART</a:t>
            </a:r>
          </a:p>
          <a:p>
            <a:pPr>
              <a:spcBef>
                <a:spcPts val="300"/>
              </a:spcBef>
              <a:defRPr sz="950" b="1">
                <a:solidFill>
                  <a:srgbClr val="FD1485"/>
                </a:solidFill>
                <a:latin typeface="Mulish"/>
              </a:defRPr>
            </a:pPr>
            <a:r>
              <a:rPr lang="en-US" sz="950" b="1" dirty="0">
                <a:solidFill>
                  <a:srgbClr val="FD1485"/>
                </a:solidFill>
                <a:latin typeface="Mulish"/>
              </a:rPr>
              <a:t>Dynamic Resource Orchestration</a:t>
            </a:r>
          </a:p>
          <a:p>
            <a:pPr>
              <a:spcBef>
                <a:spcPts val="3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dirty="0">
                <a:solidFill>
                  <a:srgbClr val="3C3C41"/>
                </a:solidFill>
                <a:latin typeface="Mulish"/>
              </a:rPr>
              <a:t>Matching weighs skills, availability, SLA, distance, familiarity, workload, performance and resources, and must recover when a technician drops out or a part becomes unavailable.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83296" y="4892040"/>
            <a:ext cx="2971800" cy="1645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8403336" y="476402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079ED2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Mulish"/>
              </a:defRPr>
            </a:pPr>
            <a:r>
              <a:t>TECH 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6176" y="5093208"/>
            <a:ext cx="26060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3334"/>
                </a:solidFill>
                <a:latin typeface="Fjalla One"/>
              </a:defRPr>
            </a:pPr>
            <a:r>
              <a:rPr lang="en-US" sz="1100" b="1" dirty="0">
                <a:solidFill>
                  <a:srgbClr val="353334"/>
                </a:solidFill>
                <a:latin typeface="Fjalla One"/>
              </a:rPr>
              <a:t>VALIDATION</a:t>
            </a:r>
          </a:p>
          <a:p>
            <a:pPr>
              <a:spcBef>
                <a:spcPts val="300"/>
              </a:spcBef>
              <a:defRPr sz="950" b="1">
                <a:solidFill>
                  <a:srgbClr val="FD1485"/>
                </a:solidFill>
                <a:latin typeface="Mulish"/>
              </a:defRPr>
            </a:pPr>
            <a:r>
              <a:rPr lang="en-US" sz="950" b="1" dirty="0">
                <a:solidFill>
                  <a:srgbClr val="FD1485"/>
                </a:solidFill>
                <a:latin typeface="Mulish"/>
              </a:rPr>
              <a:t>M-104 End-to-End Scenario</a:t>
            </a:r>
          </a:p>
          <a:p>
            <a:pPr>
              <a:spcBef>
                <a:spcPts val="3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dirty="0">
                <a:solidFill>
                  <a:srgbClr val="3C3C41"/>
                </a:solidFill>
                <a:latin typeface="Mulish"/>
              </a:rPr>
              <a:t>Vibration → AI classification → Validation → Technician ranking → Part shortage → Alternate warehouse → Approval → Dispatch → Dropout → Reassignment → Completion → Verification → Machine passport</a:t>
            </a:r>
          </a:p>
        </p:txBody>
      </p:sp>
      <p:sp>
        <p:nvSpPr>
          <p:cNvPr id="37" name="Arch Users"/>
          <p:cNvSpPr/>
          <p:nvPr/>
        </p:nvSpPr>
        <p:spPr>
          <a:xfrm>
            <a:off x="2148840" y="2395728"/>
            <a:ext cx="1481328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950" b="1">
                <a:solidFill>
                  <a:srgbClr val="353334"/>
                </a:solidFill>
                <a:latin typeface="Fjalla One"/>
              </a:defRPr>
            </a:pPr>
            <a:r>
              <a:rPr lang="en-US" sz="950" b="1" dirty="0">
                <a:solidFill>
                  <a:srgbClr val="353334"/>
                </a:solidFill>
                <a:latin typeface="Fjalla One"/>
              </a:rPr>
              <a:t>USERS</a:t>
            </a:r>
          </a:p>
          <a:p>
            <a:pPr algn="ctr">
              <a:spcBef>
                <a:spcPts val="10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Customer</a:t>
            </a:r>
          </a:p>
          <a:p>
            <a:pPr algn="ctr">
              <a:spcBef>
                <a:spcPts val="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Technician</a:t>
            </a:r>
          </a:p>
          <a:p>
            <a:pPr algn="ctr">
              <a:spcBef>
                <a:spcPts val="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Manager</a:t>
            </a:r>
          </a:p>
          <a:p>
            <a:pPr algn="ctr">
              <a:spcBef>
                <a:spcPts val="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Inventory Manager</a:t>
            </a:r>
          </a:p>
          <a:p>
            <a:pPr algn="ctr">
              <a:spcBef>
                <a:spcPts val="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Administrator</a:t>
            </a:r>
          </a:p>
        </p:txBody>
      </p:sp>
      <p:sp>
        <p:nvSpPr>
          <p:cNvPr id="38" name="Arch Arrow 1"/>
          <p:cNvSpPr txBox="1"/>
          <p:nvPr/>
        </p:nvSpPr>
        <p:spPr>
          <a:xfrm>
            <a:off x="3630168" y="2843784"/>
            <a:ext cx="2514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300" b="1">
                <a:solidFill>
                  <a:srgbClr val="FD1485"/>
                </a:solidFill>
                <a:latin typeface="Fjalla One"/>
              </a:defRPr>
            </a:pPr>
            <a:r>
              <a:rPr lang="en-US" sz="1300" b="1" dirty="0">
                <a:solidFill>
                  <a:srgbClr val="FD1485"/>
                </a:solidFill>
                <a:latin typeface="Fjalla One"/>
              </a:rPr>
              <a:t>➔</a:t>
            </a:r>
          </a:p>
        </p:txBody>
      </p:sp>
      <p:sp>
        <p:nvSpPr>
          <p:cNvPr id="39" name="Arch Frontend"/>
          <p:cNvSpPr/>
          <p:nvPr/>
        </p:nvSpPr>
        <p:spPr>
          <a:xfrm>
            <a:off x="3881628" y="2395728"/>
            <a:ext cx="1481328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79E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950" b="1">
                <a:solidFill>
                  <a:srgbClr val="353334"/>
                </a:solidFill>
                <a:latin typeface="Fjalla One"/>
              </a:defRPr>
            </a:pPr>
            <a:r>
              <a:rPr lang="en-US" sz="950" b="1" dirty="0">
                <a:solidFill>
                  <a:srgbClr val="353334"/>
                </a:solidFill>
                <a:latin typeface="Fjalla One"/>
              </a:rPr>
              <a:t>FRONTEND</a:t>
            </a:r>
          </a:p>
          <a:p>
            <a:pPr algn="ctr">
              <a:spcBef>
                <a:spcPts val="10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React / Vite</a:t>
            </a:r>
          </a:p>
          <a:p>
            <a:pPr algn="ctr">
              <a:spcBef>
                <a:spcPts val="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Role-based interfaces</a:t>
            </a:r>
          </a:p>
        </p:txBody>
      </p:sp>
      <p:sp>
        <p:nvSpPr>
          <p:cNvPr id="40" name="Arch Arrow 2"/>
          <p:cNvSpPr txBox="1"/>
          <p:nvPr/>
        </p:nvSpPr>
        <p:spPr>
          <a:xfrm>
            <a:off x="5362956" y="2843784"/>
            <a:ext cx="2514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300" b="1">
                <a:solidFill>
                  <a:srgbClr val="FD1485"/>
                </a:solidFill>
                <a:latin typeface="Fjalla One"/>
              </a:defRPr>
            </a:pPr>
            <a:r>
              <a:rPr lang="en-US" sz="1300" b="1" dirty="0">
                <a:solidFill>
                  <a:srgbClr val="FD1485"/>
                </a:solidFill>
                <a:latin typeface="Fjalla One"/>
              </a:rPr>
              <a:t>➔</a:t>
            </a:r>
          </a:p>
        </p:txBody>
      </p:sp>
      <p:sp>
        <p:nvSpPr>
          <p:cNvPr id="41" name="Arch Fastapi Core"/>
          <p:cNvSpPr/>
          <p:nvPr/>
        </p:nvSpPr>
        <p:spPr>
          <a:xfrm>
            <a:off x="5614416" y="2395728"/>
            <a:ext cx="1481328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950" b="1">
                <a:solidFill>
                  <a:srgbClr val="353334"/>
                </a:solidFill>
                <a:latin typeface="Fjalla One"/>
              </a:defRPr>
            </a:pPr>
            <a:r>
              <a:rPr lang="en-US" sz="950" b="1" dirty="0">
                <a:solidFill>
                  <a:srgbClr val="353334"/>
                </a:solidFill>
                <a:latin typeface="Fjalla One"/>
              </a:rPr>
              <a:t>FASTAPI CORE</a:t>
            </a:r>
          </a:p>
          <a:p>
            <a:pPr algn="ctr">
              <a:spcBef>
                <a:spcPts val="10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Auth / RBAC</a:t>
            </a:r>
          </a:p>
          <a:p>
            <a:pPr algn="ctr">
              <a:spcBef>
                <a:spcPts val="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Service Requests</a:t>
            </a:r>
          </a:p>
          <a:p>
            <a:pPr algn="ctr">
              <a:spcBef>
                <a:spcPts val="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SLA &amp; Validation</a:t>
            </a:r>
          </a:p>
          <a:p>
            <a:pPr algn="ctr">
              <a:spcBef>
                <a:spcPts val="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Scheduling &amp; Matching</a:t>
            </a:r>
          </a:p>
          <a:p>
            <a:pPr algn="ctr">
              <a:spcBef>
                <a:spcPts val="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Inventory</a:t>
            </a:r>
          </a:p>
          <a:p>
            <a:pPr algn="ctr">
              <a:spcBef>
                <a:spcPts val="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Approval &amp; Dispatch</a:t>
            </a:r>
          </a:p>
          <a:p>
            <a:pPr algn="ctr">
              <a:spcBef>
                <a:spcPts val="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Execution · Exceptions</a:t>
            </a:r>
          </a:p>
          <a:p>
            <a:pPr algn="ctr">
              <a:spcBef>
                <a:spcPts val="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Verification &amp; Audit</a:t>
            </a:r>
          </a:p>
        </p:txBody>
      </p:sp>
      <p:sp>
        <p:nvSpPr>
          <p:cNvPr id="42" name="Arch Arrow 3"/>
          <p:cNvSpPr txBox="1"/>
          <p:nvPr/>
        </p:nvSpPr>
        <p:spPr>
          <a:xfrm>
            <a:off x="7095744" y="2843784"/>
            <a:ext cx="2514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300" b="1">
                <a:solidFill>
                  <a:srgbClr val="FD1485"/>
                </a:solidFill>
                <a:latin typeface="Fjalla One"/>
              </a:defRPr>
            </a:pPr>
            <a:r>
              <a:rPr lang="en-US" sz="1300" b="1" dirty="0">
                <a:solidFill>
                  <a:srgbClr val="FD1485"/>
                </a:solidFill>
                <a:latin typeface="Fjalla One"/>
              </a:rPr>
              <a:t>➔</a:t>
            </a:r>
          </a:p>
        </p:txBody>
      </p:sp>
      <p:sp>
        <p:nvSpPr>
          <p:cNvPr id="43" name="Arch Intelligence Layer"/>
          <p:cNvSpPr/>
          <p:nvPr/>
        </p:nvSpPr>
        <p:spPr>
          <a:xfrm>
            <a:off x="7347204" y="2395728"/>
            <a:ext cx="1481328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FB9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950" b="1">
                <a:solidFill>
                  <a:srgbClr val="353334"/>
                </a:solidFill>
                <a:latin typeface="Fjalla One"/>
              </a:defRPr>
            </a:pPr>
            <a:r>
              <a:rPr lang="en-US" sz="950" b="1" dirty="0">
                <a:solidFill>
                  <a:srgbClr val="353334"/>
                </a:solidFill>
                <a:latin typeface="Fjalla One"/>
              </a:rPr>
              <a:t>INTELLIGENCE LAYER</a:t>
            </a:r>
          </a:p>
          <a:p>
            <a:pPr algn="ctr">
              <a:spcBef>
                <a:spcPts val="10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AI Classification</a:t>
            </a:r>
          </a:p>
          <a:p>
            <a:pPr algn="ctr">
              <a:spcBef>
                <a:spcPts val="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Resource Planning</a:t>
            </a:r>
          </a:p>
          <a:p>
            <a:pPr algn="ctr">
              <a:spcBef>
                <a:spcPts val="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Technician Matching</a:t>
            </a:r>
          </a:p>
          <a:p>
            <a:pPr algn="ctr">
              <a:spcBef>
                <a:spcPts val="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SLA Risk</a:t>
            </a:r>
          </a:p>
          <a:p>
            <a:pPr algn="ctr">
              <a:spcBef>
                <a:spcPts val="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Exception Intelligence</a:t>
            </a:r>
          </a:p>
          <a:p>
            <a:pPr algn="ctr">
              <a:spcBef>
                <a:spcPts val="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Diagnostics / RAG</a:t>
            </a:r>
          </a:p>
          <a:p>
            <a:pPr algn="ctr">
              <a:spcBef>
                <a:spcPts val="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Operations Copilot</a:t>
            </a:r>
          </a:p>
        </p:txBody>
      </p:sp>
      <p:sp>
        <p:nvSpPr>
          <p:cNvPr id="44" name="Arch Arrow 4"/>
          <p:cNvSpPr txBox="1"/>
          <p:nvPr/>
        </p:nvSpPr>
        <p:spPr>
          <a:xfrm>
            <a:off x="8828532" y="2843784"/>
            <a:ext cx="251460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300" b="1">
                <a:solidFill>
                  <a:srgbClr val="FD1485"/>
                </a:solidFill>
                <a:latin typeface="Fjalla One"/>
              </a:defRPr>
            </a:pPr>
            <a:r>
              <a:rPr lang="en-US" sz="1300" b="1" dirty="0">
                <a:solidFill>
                  <a:srgbClr val="FD1485"/>
                </a:solidFill>
                <a:latin typeface="Fjalla One"/>
              </a:rPr>
              <a:t>➔</a:t>
            </a:r>
          </a:p>
        </p:txBody>
      </p:sp>
      <p:sp>
        <p:nvSpPr>
          <p:cNvPr id="45" name="Arch Data &amp; Infra"/>
          <p:cNvSpPr/>
          <p:nvPr/>
        </p:nvSpPr>
        <p:spPr>
          <a:xfrm>
            <a:off x="9079992" y="2395728"/>
            <a:ext cx="1481328" cy="12618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>
              <a:defRPr sz="950" b="1">
                <a:solidFill>
                  <a:srgbClr val="353334"/>
                </a:solidFill>
                <a:latin typeface="Fjalla One"/>
              </a:defRPr>
            </a:pPr>
            <a:r>
              <a:rPr lang="en-US" sz="950" b="1" dirty="0">
                <a:solidFill>
                  <a:srgbClr val="353334"/>
                </a:solidFill>
                <a:latin typeface="Fjalla One"/>
              </a:rPr>
              <a:t>DATA &amp; INFRA</a:t>
            </a:r>
          </a:p>
          <a:p>
            <a:pPr algn="ctr">
              <a:spcBef>
                <a:spcPts val="10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PostgreSQL</a:t>
            </a:r>
          </a:p>
          <a:p>
            <a:pPr algn="ctr">
              <a:spcBef>
                <a:spcPts val="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Redis</a:t>
            </a:r>
          </a:p>
          <a:p>
            <a:pPr algn="ctr">
              <a:spcBef>
                <a:spcPts val="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Object Storage</a:t>
            </a:r>
          </a:p>
          <a:p>
            <a:pPr algn="ctr">
              <a:spcBef>
                <a:spcPts val="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WebSockets</a:t>
            </a:r>
          </a:p>
          <a:p>
            <a:pPr algn="ctr">
              <a:spcBef>
                <a:spcPts val="0"/>
              </a:spcBef>
              <a:defRPr sz="800">
                <a:solidFill>
                  <a:srgbClr val="3C3C41"/>
                </a:solidFill>
                <a:latin typeface="Mulish"/>
              </a:defRPr>
            </a:pPr>
            <a:r>
              <a:rPr lang="en-US" sz="800" dirty="0">
                <a:solidFill>
                  <a:srgbClr val="3C3C41"/>
                </a:solidFill>
                <a:latin typeface="Mulish"/>
              </a:rPr>
              <a:t>Background Jobs</a:t>
            </a:r>
          </a:p>
        </p:txBody>
      </p:sp>
      <p:sp>
        <p:nvSpPr>
          <p:cNvPr id="46" name="Arch Chain Label"/>
          <p:cNvSpPr txBox="1"/>
          <p:nvPr/>
        </p:nvSpPr>
        <p:spPr>
          <a:xfrm>
            <a:off x="2148840" y="3730752"/>
            <a:ext cx="5486400" cy="18288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pPr>
              <a:defRPr sz="800" b="1">
                <a:solidFill>
                  <a:srgbClr val="FD1485"/>
                </a:solidFill>
                <a:latin typeface="Fjalla One"/>
              </a:defRPr>
            </a:pPr>
            <a:r>
              <a:rPr lang="en-US" sz="800" b="1" dirty="0">
                <a:solidFill>
                  <a:srgbClr val="FD1485"/>
                </a:solidFill>
                <a:latin typeface="Fjalla One"/>
              </a:rPr>
              <a:t>AI RECOMMENDS  →  DETERMINISTIC SERVICES DECIDE &amp; EXECUTE</a:t>
            </a:r>
          </a:p>
        </p:txBody>
      </p:sp>
      <p:sp>
        <p:nvSpPr>
          <p:cNvPr id="47" name="Arch Chain 1"/>
          <p:cNvSpPr/>
          <p:nvPr/>
        </p:nvSpPr>
        <p:spPr>
          <a:xfrm>
            <a:off x="2148840" y="3931920"/>
            <a:ext cx="1078992" cy="438912"/>
          </a:xfrm>
          <a:prstGeom prst="homePlate">
            <a:avLst>
              <a:gd name="adj" fmla="val 30000"/>
            </a:avLst>
          </a:prstGeom>
          <a:solidFill>
            <a:srgbClr val="FD1485"/>
          </a:solidFill>
          <a:ln w="1905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73152" bIns="0" rtlCol="0" anchor="ctr"/>
          <a:lstStyle/>
          <a:p>
            <a:pPr algn="ctr">
              <a:defRPr sz="750" b="1">
                <a:solidFill>
                  <a:srgbClr val="FFFFFF"/>
                </a:solidFill>
                <a:latin typeface="Mulish"/>
              </a:defRPr>
            </a:pPr>
            <a:r>
              <a:rPr lang="en-US" sz="750" b="1" dirty="0">
                <a:solidFill>
                  <a:srgbClr val="FFFFFF"/>
                </a:solidFill>
                <a:latin typeface="Mulish"/>
              </a:rPr>
              <a:t>AI Recommendation</a:t>
            </a:r>
          </a:p>
        </p:txBody>
      </p:sp>
      <p:sp>
        <p:nvSpPr>
          <p:cNvPr id="48" name="Arch Chain 2"/>
          <p:cNvSpPr/>
          <p:nvPr/>
        </p:nvSpPr>
        <p:spPr>
          <a:xfrm>
            <a:off x="3273552" y="3931920"/>
            <a:ext cx="1078992" cy="438912"/>
          </a:xfrm>
          <a:prstGeom prst="homePlate">
            <a:avLst>
              <a:gd name="adj" fmla="val 30000"/>
            </a:avLst>
          </a:prstGeom>
          <a:solidFill>
            <a:srgbClr val="079ED2"/>
          </a:solidFill>
          <a:ln w="19050">
            <a:solidFill>
              <a:srgbClr val="079E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73152" bIns="0" rtlCol="0" anchor="ctr"/>
          <a:lstStyle/>
          <a:p>
            <a:pPr algn="ctr">
              <a:defRPr sz="750" b="1">
                <a:solidFill>
                  <a:srgbClr val="FFFFFF"/>
                </a:solidFill>
                <a:latin typeface="Mulish"/>
              </a:defRPr>
            </a:pPr>
            <a:r>
              <a:rPr lang="en-US" sz="750" b="1" dirty="0">
                <a:solidFill>
                  <a:srgbClr val="FFFFFF"/>
                </a:solidFill>
                <a:latin typeface="Mulish"/>
              </a:rPr>
              <a:t>Structured Output</a:t>
            </a:r>
          </a:p>
        </p:txBody>
      </p:sp>
      <p:sp>
        <p:nvSpPr>
          <p:cNvPr id="49" name="Arch Chain 3"/>
          <p:cNvSpPr/>
          <p:nvPr/>
        </p:nvSpPr>
        <p:spPr>
          <a:xfrm>
            <a:off x="4398264" y="3931920"/>
            <a:ext cx="1078992" cy="438912"/>
          </a:xfrm>
          <a:prstGeom prst="homePlate">
            <a:avLst>
              <a:gd name="adj" fmla="val 30000"/>
            </a:avLst>
          </a:prstGeom>
          <a:solidFill>
            <a:srgbClr val="FFB903"/>
          </a:solidFill>
          <a:ln w="19050">
            <a:solidFill>
              <a:srgbClr val="FFB9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73152" bIns="0" rtlCol="0" anchor="ctr"/>
          <a:lstStyle/>
          <a:p>
            <a:pPr algn="ctr">
              <a:defRPr sz="750" b="1">
                <a:solidFill>
                  <a:srgbClr val="353334"/>
                </a:solidFill>
                <a:latin typeface="Mulish"/>
              </a:defRPr>
            </a:pPr>
            <a:r>
              <a:rPr lang="en-US" sz="750" b="1" dirty="0">
                <a:solidFill>
                  <a:srgbClr val="353334"/>
                </a:solidFill>
                <a:latin typeface="Mulish"/>
              </a:rPr>
              <a:t>Deterministic Validation</a:t>
            </a:r>
          </a:p>
        </p:txBody>
      </p:sp>
      <p:sp>
        <p:nvSpPr>
          <p:cNvPr id="50" name="Arch Chain 4"/>
          <p:cNvSpPr/>
          <p:nvPr/>
        </p:nvSpPr>
        <p:spPr>
          <a:xfrm>
            <a:off x="5522976" y="3931920"/>
            <a:ext cx="1078992" cy="438912"/>
          </a:xfrm>
          <a:prstGeom prst="homePlate">
            <a:avLst>
              <a:gd name="adj" fmla="val 30000"/>
            </a:avLst>
          </a:prstGeom>
          <a:solidFill>
            <a:srgbClr val="353334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73152" bIns="0" rtlCol="0" anchor="ctr"/>
          <a:lstStyle/>
          <a:p>
            <a:pPr algn="ctr">
              <a:defRPr sz="750" b="1">
                <a:solidFill>
                  <a:srgbClr val="FFFFFF"/>
                </a:solidFill>
                <a:latin typeface="Mulish"/>
              </a:defRPr>
            </a:pPr>
            <a:r>
              <a:rPr lang="en-US" sz="750" b="1" dirty="0">
                <a:solidFill>
                  <a:srgbClr val="FFFFFF"/>
                </a:solidFill>
                <a:latin typeface="Mulish"/>
              </a:rPr>
              <a:t>Database Transaction</a:t>
            </a:r>
          </a:p>
        </p:txBody>
      </p:sp>
      <p:sp>
        <p:nvSpPr>
          <p:cNvPr id="51" name="Arch Chain 5"/>
          <p:cNvSpPr/>
          <p:nvPr/>
        </p:nvSpPr>
        <p:spPr>
          <a:xfrm>
            <a:off x="6647688" y="3931920"/>
            <a:ext cx="1078992" cy="438912"/>
          </a:xfrm>
          <a:prstGeom prst="homePlate">
            <a:avLst>
              <a:gd name="adj" fmla="val 30000"/>
            </a:avLst>
          </a:prstGeom>
          <a:solidFill>
            <a:srgbClr val="FD1485"/>
          </a:solidFill>
          <a:ln w="1905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73152" bIns="0" rtlCol="0" anchor="ctr"/>
          <a:lstStyle/>
          <a:p>
            <a:pPr algn="ctr">
              <a:defRPr sz="750" b="1">
                <a:solidFill>
                  <a:srgbClr val="FFFFFF"/>
                </a:solidFill>
                <a:latin typeface="Mulish"/>
              </a:defRPr>
            </a:pPr>
            <a:r>
              <a:rPr lang="en-US" sz="750" b="1" dirty="0">
                <a:solidFill>
                  <a:srgbClr val="FFFFFF"/>
                </a:solidFill>
                <a:latin typeface="Mulish"/>
              </a:rPr>
              <a:t>Audit</a:t>
            </a:r>
          </a:p>
        </p:txBody>
      </p:sp>
      <p:sp>
        <p:nvSpPr>
          <p:cNvPr id="52" name="Arch Outputs"/>
          <p:cNvSpPr/>
          <p:nvPr/>
        </p:nvSpPr>
        <p:spPr>
          <a:xfrm>
            <a:off x="7909560" y="3931920"/>
            <a:ext cx="2651760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45720" bIns="0" rtlCol="0" anchor="ctr"/>
          <a:lstStyle/>
          <a:p>
            <a:pPr algn="ctr">
              <a:defRPr sz="850" b="1">
                <a:solidFill>
                  <a:srgbClr val="353334"/>
                </a:solidFill>
                <a:latin typeface="Fjalla One"/>
              </a:defRPr>
            </a:pPr>
            <a:r>
              <a:rPr lang="en-US" sz="850" b="1" dirty="0">
                <a:solidFill>
                  <a:srgbClr val="353334"/>
                </a:solidFill>
                <a:latin typeface="Fjalla One"/>
              </a:rPr>
              <a:t>OUTPUTS</a:t>
            </a:r>
          </a:p>
          <a:p>
            <a:pPr algn="ctr">
              <a:defRPr sz="750">
                <a:solidFill>
                  <a:srgbClr val="3C3C41"/>
                </a:solidFill>
                <a:latin typeface="Mulish"/>
              </a:defRPr>
            </a:pPr>
            <a:r>
              <a:rPr lang="en-US" sz="750" dirty="0">
                <a:solidFill>
                  <a:srgbClr val="3C3C41"/>
                </a:solidFill>
                <a:latin typeface="Mulish"/>
              </a:rPr>
              <a:t>Dashboards · Notifications · Machine Passport · Audit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182880" y="10515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182880" y="1453896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-182880" y="18562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521440" y="548640"/>
            <a:ext cx="219456" cy="164592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521440" y="713232"/>
            <a:ext cx="219456" cy="164592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521440" y="877824"/>
            <a:ext cx="219456" cy="164592"/>
          </a:xfrm>
          <a:prstGeom prst="rect">
            <a:avLst/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521440" y="1042416"/>
            <a:ext cx="219456" cy="164592"/>
          </a:xfrm>
          <a:prstGeom prst="rect">
            <a:avLst/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219456" cy="164592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5742432"/>
            <a:ext cx="219456" cy="164592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907024"/>
            <a:ext cx="219456" cy="164592"/>
          </a:xfrm>
          <a:prstGeom prst="rect">
            <a:avLst/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6071616"/>
            <a:ext cx="219456" cy="164592"/>
          </a:xfrm>
          <a:prstGeom prst="rect">
            <a:avLst/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087100" y="5934075"/>
            <a:ext cx="320040" cy="1905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237595" y="5783580"/>
            <a:ext cx="19050" cy="32004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1192256" y="5888736"/>
            <a:ext cx="109728" cy="109728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Arc 16"/>
          <p:cNvSpPr/>
          <p:nvPr/>
        </p:nvSpPr>
        <p:spPr>
          <a:xfrm>
            <a:off x="8412480" y="640080"/>
            <a:ext cx="1005840" cy="822960"/>
          </a:xfrm>
          <a:prstGeom prst="arc">
            <a:avLst/>
          </a:prstGeom>
          <a:noFill/>
          <a:ln w="19050">
            <a:solidFill>
              <a:srgbClr val="079E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371332" y="1010412"/>
            <a:ext cx="82296" cy="82296"/>
          </a:xfrm>
          <a:prstGeom prst="rect">
            <a:avLst/>
          </a:prstGeom>
          <a:solidFill>
            <a:srgbClr val="FFFFFF"/>
          </a:solidFill>
          <a:ln w="1778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377172" y="598932"/>
            <a:ext cx="82296" cy="82296"/>
          </a:xfrm>
          <a:prstGeom prst="rect">
            <a:avLst/>
          </a:prstGeom>
          <a:solidFill>
            <a:srgbClr val="FFFFFF"/>
          </a:solidFill>
          <a:ln w="1778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45920" y="384048"/>
            <a:ext cx="8229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53334"/>
                </a:solidFill>
                <a:latin typeface="Mulish"/>
              </a:defRPr>
            </a:pPr>
            <a:r>
              <a:t>DATAQUEST 3.0  ·  ROUND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621792"/>
            <a:ext cx="91440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600" b="1">
                <a:solidFill>
                  <a:srgbClr val="FD1485"/>
                </a:solidFill>
                <a:latin typeface="Fjalla One"/>
              </a:rPr>
              <a:t>05  </a:t>
            </a:r>
            <a:r>
              <a:rPr sz="3200" b="1">
                <a:solidFill>
                  <a:srgbClr val="353334"/>
                </a:solidFill>
                <a:latin typeface="Fjalla One"/>
              </a:rPr>
              <a:t>Feasibility &amp; Scope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0" y="1444752"/>
            <a:ext cx="9418320" cy="1905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45920" y="1517904"/>
            <a:ext cx="94183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>
                <a:solidFill>
                  <a:srgbClr val="6E6E73"/>
                </a:solidFill>
                <a:latin typeface="Mulish"/>
              </a:defRPr>
            </a:pPr>
            <a:r>
              <a:t>Concrete boundaries · Operational run rate · Risk mitigation · Post-hackathon plans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45920" y="2057400"/>
            <a:ext cx="4572000" cy="21488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965960" y="192938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079ED2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Mulish"/>
              </a:defRPr>
            </a:pPr>
            <a:r>
              <a:t>01 · BOUNDARIES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2313432"/>
            <a:ext cx="4023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53334"/>
                </a:solidFill>
                <a:latin typeface="Fjalla One"/>
              </a:defRPr>
            </a:pPr>
            <a:r>
              <a:rPr lang="en-US" sz="1300" b="1" dirty="0">
                <a:solidFill>
                  <a:srgbClr val="353334"/>
                </a:solidFill>
                <a:latin typeface="Fjalla One"/>
              </a:rPr>
              <a:t>1. SCOPE</a:t>
            </a:r>
          </a:p>
          <a:p>
            <a:pPr>
              <a:spcBef>
                <a:spcPts val="4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b="1" dirty="0">
                <a:solidFill>
                  <a:srgbClr val="079ED2"/>
                </a:solidFill>
                <a:latin typeface="Mulish"/>
              </a:rPr>
              <a:t>In: </a:t>
            </a:r>
            <a:r>
              <a:rPr lang="en-US" sz="900" dirty="0">
                <a:solidFill>
                  <a:srgbClr val="3C3C41"/>
                </a:solidFill>
                <a:latin typeface="Mulish"/>
              </a:rPr>
              <a:t>Authentication &amp; RBAC · Multi-site equipment · Reactive maintenance · AI classification · Validation &amp; SLA · Technician matching · Inventory &amp; resources · Approval &amp; dispatch · Technician execution · Exception handling · Dynamic reassignment · Completion verification · Service history · Dashboards &amp; audit</a:t>
            </a:r>
          </a:p>
          <a:p>
            <a:pPr>
              <a:spcBef>
                <a:spcPts val="5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b="1" dirty="0">
                <a:solidFill>
                  <a:srgbClr val="FD1485"/>
                </a:solidFill>
                <a:latin typeface="Mulish"/>
              </a:rPr>
              <a:t>Out (future expansion): </a:t>
            </a:r>
            <a:r>
              <a:rPr lang="en-US" sz="900" dirty="0">
                <a:solidFill>
                  <a:srgbClr val="3C3C41"/>
                </a:solidFill>
                <a:latin typeface="Mulish"/>
              </a:rPr>
              <a:t>Enterprise IoT infrastructure, blockchain, offline mobile, advanced digital twin, complex computer vision, complex optimization, fully autonomous AI agents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2057400"/>
            <a:ext cx="4572000" cy="21488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812280" y="192938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FFB903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353334"/>
                </a:solidFill>
                <a:latin typeface="Mulish"/>
              </a:defRPr>
            </a:pPr>
            <a:r>
              <a:t>02 · ECONOMICS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2313432"/>
            <a:ext cx="4023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53334"/>
                </a:solidFill>
                <a:latin typeface="Fjalla One"/>
              </a:defRPr>
            </a:pPr>
            <a:r>
              <a:rPr lang="en-US" sz="1300" b="1" dirty="0">
                <a:solidFill>
                  <a:srgbClr val="353334"/>
                </a:solidFill>
                <a:latin typeface="Fjalla One"/>
              </a:rPr>
              <a:t>2. RUNNING COST</a:t>
            </a:r>
          </a:p>
          <a:p>
            <a:pPr>
              <a:spcBef>
                <a:spcPts val="4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b="1" dirty="0">
                <a:solidFill>
                  <a:srgbClr val="3C3C41"/>
                </a:solidFill>
                <a:latin typeface="Mulish"/>
              </a:rPr>
              <a:t>Prototype-first architecture. </a:t>
            </a:r>
            <a:r>
              <a:rPr lang="en-US" sz="900" dirty="0">
                <a:solidFill>
                  <a:srgbClr val="3C3C41"/>
                </a:solidFill>
                <a:latin typeface="Mulish"/>
              </a:rPr>
              <a:t>Local development and demo run with minimal infrastructure cost.</a:t>
            </a:r>
          </a:p>
          <a:p>
            <a:pPr>
              <a:spcBef>
                <a:spcPts val="5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dirty="0">
                <a:solidFill>
                  <a:srgbClr val="3C3C41"/>
                </a:solidFill>
                <a:latin typeface="Mulish"/>
              </a:rPr>
              <a:t>Production cost depends on: </a:t>
            </a:r>
            <a:r>
              <a:rPr lang="en-US" sz="900" b="1" dirty="0">
                <a:solidFill>
                  <a:srgbClr val="FD1485"/>
                </a:solidFill>
                <a:latin typeface="Mulish"/>
              </a:rPr>
              <a:t>Hosting + Database + Storage + Realtime + AI API usage</a:t>
            </a:r>
            <a:r>
              <a:rPr lang="en-US" sz="900" dirty="0">
                <a:solidFill>
                  <a:srgbClr val="3C3C41"/>
                </a:solidFill>
                <a:latin typeface="Mulish"/>
              </a:rPr>
              <a:t>.</a:t>
            </a:r>
          </a:p>
          <a:p>
            <a:pPr>
              <a:spcBef>
                <a:spcPts val="5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dirty="0">
                <a:solidFill>
                  <a:srgbClr val="3C3C41"/>
                </a:solidFill>
                <a:latin typeface="Mulish"/>
              </a:rPr>
              <a:t>The architecture stays cloud-agnostic and can scale to managed infrastructure later.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645920" y="4389120"/>
            <a:ext cx="4572000" cy="21488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965960" y="426110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FD1485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Mulish"/>
              </a:defRPr>
            </a:pPr>
            <a:r>
              <a:t>03 · CONTINGENCY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4645152"/>
            <a:ext cx="4023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53334"/>
                </a:solidFill>
                <a:latin typeface="Fjalla One"/>
              </a:defRPr>
            </a:pPr>
            <a:r>
              <a:rPr lang="en-US" sz="1300" b="1" dirty="0">
                <a:solidFill>
                  <a:srgbClr val="353334"/>
                </a:solidFill>
                <a:latin typeface="Fjalla One"/>
              </a:rPr>
              <a:t>3. RISKS &amp; FALLBACK</a:t>
            </a:r>
          </a:p>
          <a:p>
            <a:pPr marL="171450" indent="-171450">
              <a:spcBef>
                <a:spcPts val="300"/>
              </a:spcBef>
              <a:buClr>
                <a:srgbClr val="FD1485"/>
              </a:buClr>
              <a:buFont typeface="Arial"/>
              <a:buChar char="•"/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b="1" dirty="0">
                <a:solidFill>
                  <a:srgbClr val="3C3C41"/>
                </a:solidFill>
                <a:latin typeface="Mulish"/>
              </a:rPr>
              <a:t>AI failure: </a:t>
            </a:r>
            <a:r>
              <a:rPr lang="en-US" sz="900" dirty="0">
                <a:solidFill>
                  <a:srgbClr val="3C3C41"/>
                </a:solidFill>
                <a:latin typeface="Mulish"/>
              </a:rPr>
              <a:t>structured fallback + deterministic rules</a:t>
            </a:r>
          </a:p>
          <a:p>
            <a:pPr marL="171450" indent="-171450">
              <a:spcBef>
                <a:spcPts val="250"/>
              </a:spcBef>
              <a:buClr>
                <a:srgbClr val="FD1485"/>
              </a:buClr>
              <a:buFont typeface="Arial"/>
              <a:buChar char="•"/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b="1" dirty="0">
                <a:solidFill>
                  <a:srgbClr val="3C3C41"/>
                </a:solidFill>
                <a:latin typeface="Mulish"/>
              </a:rPr>
              <a:t>AI hallucination: </a:t>
            </a:r>
            <a:r>
              <a:rPr lang="en-US" sz="900" dirty="0">
                <a:solidFill>
                  <a:srgbClr val="3C3C41"/>
                </a:solidFill>
                <a:latin typeface="Mulish"/>
              </a:rPr>
              <a:t>schema validation + confidence + backend policy checks</a:t>
            </a:r>
          </a:p>
          <a:p>
            <a:pPr marL="171450" indent="-171450">
              <a:spcBef>
                <a:spcPts val="250"/>
              </a:spcBef>
              <a:buClr>
                <a:srgbClr val="FD1485"/>
              </a:buClr>
              <a:buFont typeface="Arial"/>
              <a:buChar char="•"/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b="1" dirty="0">
                <a:solidFill>
                  <a:srgbClr val="3C3C41"/>
                </a:solidFill>
                <a:latin typeface="Mulish"/>
              </a:rPr>
              <a:t>Technician dropout: </a:t>
            </a:r>
            <a:r>
              <a:rPr lang="en-US" sz="900" dirty="0">
                <a:solidFill>
                  <a:srgbClr val="3C3C41"/>
                </a:solidFill>
                <a:latin typeface="Mulish"/>
              </a:rPr>
              <a:t>exception detection + candidate re-ranking + reassignment</a:t>
            </a:r>
          </a:p>
          <a:p>
            <a:pPr marL="171450" indent="-171450">
              <a:spcBef>
                <a:spcPts val="250"/>
              </a:spcBef>
              <a:buClr>
                <a:srgbClr val="FD1485"/>
              </a:buClr>
              <a:buFont typeface="Arial"/>
              <a:buChar char="•"/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b="1" dirty="0">
                <a:solidFill>
                  <a:srgbClr val="3C3C41"/>
                </a:solidFill>
                <a:latin typeface="Mulish"/>
              </a:rPr>
              <a:t>Part shortage: </a:t>
            </a:r>
            <a:r>
              <a:rPr lang="en-US" sz="900" dirty="0">
                <a:solidFill>
                  <a:srgbClr val="3C3C41"/>
                </a:solidFill>
                <a:latin typeface="Mulish"/>
              </a:rPr>
              <a:t>alternate warehouse/resource resolution</a:t>
            </a:r>
          </a:p>
          <a:p>
            <a:pPr marL="171450" indent="-171450">
              <a:spcBef>
                <a:spcPts val="250"/>
              </a:spcBef>
              <a:buClr>
                <a:srgbClr val="FD1485"/>
              </a:buClr>
              <a:buFont typeface="Arial"/>
              <a:buChar char="•"/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b="1" dirty="0">
                <a:solidFill>
                  <a:srgbClr val="3C3C41"/>
                </a:solidFill>
                <a:latin typeface="Mulish"/>
              </a:rPr>
              <a:t>SLA risk: </a:t>
            </a:r>
            <a:r>
              <a:rPr lang="en-US" sz="900" dirty="0">
                <a:solidFill>
                  <a:srgbClr val="3C3C41"/>
                </a:solidFill>
                <a:latin typeface="Mulish"/>
              </a:rPr>
              <a:t>risk detection + escalation + reassignment</a:t>
            </a:r>
          </a:p>
          <a:p>
            <a:pPr marL="171450" indent="-171450">
              <a:spcBef>
                <a:spcPts val="250"/>
              </a:spcBef>
              <a:buClr>
                <a:srgbClr val="FD1485"/>
              </a:buClr>
              <a:buFont typeface="Arial"/>
              <a:buChar char="•"/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b="1" dirty="0">
                <a:solidFill>
                  <a:srgbClr val="3C3C41"/>
                </a:solidFill>
                <a:latin typeface="Mulish"/>
              </a:rPr>
              <a:t>Data inconsistency: </a:t>
            </a:r>
            <a:r>
              <a:rPr lang="en-US" sz="900" dirty="0">
                <a:solidFill>
                  <a:srgbClr val="3C3C41"/>
                </a:solidFill>
                <a:latin typeface="Mulish"/>
              </a:rPr>
              <a:t>validation + database constraints + transactions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92240" y="4389120"/>
            <a:ext cx="4572000" cy="21488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6812280" y="426110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353334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Mulish"/>
              </a:defRPr>
            </a:pPr>
            <a:r>
              <a:t>04 · HORIZON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4645152"/>
            <a:ext cx="4023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53334"/>
                </a:solidFill>
                <a:latin typeface="Fjalla One"/>
              </a:defRPr>
            </a:pPr>
            <a:r>
              <a:rPr lang="en-US" sz="1300" b="1" dirty="0">
                <a:solidFill>
                  <a:srgbClr val="353334"/>
                </a:solidFill>
                <a:latin typeface="Fjalla One"/>
              </a:rPr>
              <a:t>4. AFTER THE HACKATHON</a:t>
            </a:r>
          </a:p>
          <a:p>
            <a:pPr>
              <a:spcBef>
                <a:spcPts val="4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b="1" dirty="0">
                <a:solidFill>
                  <a:srgbClr val="FD1485"/>
                </a:solidFill>
                <a:latin typeface="Mulish"/>
              </a:rPr>
              <a:t>Phase 1 — </a:t>
            </a:r>
            <a:r>
              <a:rPr lang="en-US" sz="900" dirty="0">
                <a:solidFill>
                  <a:srgbClr val="3C3C41"/>
                </a:solidFill>
                <a:latin typeface="Mulish"/>
              </a:rPr>
              <a:t>Production deployment, security hardening, testing and observability.</a:t>
            </a:r>
          </a:p>
          <a:p>
            <a:pPr>
              <a:spcBef>
                <a:spcPts val="5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b="1" dirty="0">
                <a:solidFill>
                  <a:srgbClr val="FD1485"/>
                </a:solidFill>
                <a:latin typeface="Mulish"/>
              </a:rPr>
              <a:t>Phase 2 — </a:t>
            </a:r>
            <a:r>
              <a:rPr lang="en-US" sz="900" dirty="0">
                <a:solidFill>
                  <a:srgbClr val="3C3C41"/>
                </a:solidFill>
                <a:latin typeface="Mulish"/>
              </a:rPr>
              <a:t>IoT integration, predictive maintenance, RAG diagnostics, spare-part and SLA prediction.</a:t>
            </a:r>
          </a:p>
          <a:p>
            <a:pPr>
              <a:spcBef>
                <a:spcPts val="5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b="1" dirty="0">
                <a:solidFill>
                  <a:srgbClr val="FD1485"/>
                </a:solidFill>
                <a:latin typeface="Mulish"/>
              </a:rPr>
              <a:t>Phase 3 — </a:t>
            </a:r>
            <a:r>
              <a:rPr lang="en-US" sz="900" dirty="0">
                <a:solidFill>
                  <a:srgbClr val="3C3C41"/>
                </a:solidFill>
                <a:latin typeface="Mulish"/>
              </a:rPr>
              <a:t>Mobile/offline workflows, route optimization, digital twin, computer vision, voice and enterprise integrations.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182880" y="10515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182880" y="1453896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-182880" y="18562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521440" y="548640"/>
            <a:ext cx="219456" cy="164592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521440" y="713232"/>
            <a:ext cx="219456" cy="164592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521440" y="877824"/>
            <a:ext cx="219456" cy="164592"/>
          </a:xfrm>
          <a:prstGeom prst="rect">
            <a:avLst/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521440" y="1042416"/>
            <a:ext cx="219456" cy="164592"/>
          </a:xfrm>
          <a:prstGeom prst="rect">
            <a:avLst/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219456" cy="164592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5742432"/>
            <a:ext cx="219456" cy="164592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907024"/>
            <a:ext cx="219456" cy="164592"/>
          </a:xfrm>
          <a:prstGeom prst="rect">
            <a:avLst/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6071616"/>
            <a:ext cx="219456" cy="164592"/>
          </a:xfrm>
          <a:prstGeom prst="rect">
            <a:avLst/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087100" y="5934075"/>
            <a:ext cx="320040" cy="1905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237595" y="5783580"/>
            <a:ext cx="19050" cy="32004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1192256" y="5888736"/>
            <a:ext cx="109728" cy="109728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Arc 16"/>
          <p:cNvSpPr/>
          <p:nvPr/>
        </p:nvSpPr>
        <p:spPr>
          <a:xfrm>
            <a:off x="8412480" y="640080"/>
            <a:ext cx="1005840" cy="822960"/>
          </a:xfrm>
          <a:prstGeom prst="arc">
            <a:avLst/>
          </a:prstGeom>
          <a:noFill/>
          <a:ln w="19050">
            <a:solidFill>
              <a:srgbClr val="079E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371332" y="1010412"/>
            <a:ext cx="82296" cy="82296"/>
          </a:xfrm>
          <a:prstGeom prst="rect">
            <a:avLst/>
          </a:prstGeom>
          <a:solidFill>
            <a:srgbClr val="FFFFFF"/>
          </a:solidFill>
          <a:ln w="1778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377172" y="598932"/>
            <a:ext cx="82296" cy="82296"/>
          </a:xfrm>
          <a:prstGeom prst="rect">
            <a:avLst/>
          </a:prstGeom>
          <a:solidFill>
            <a:srgbClr val="FFFFFF"/>
          </a:solidFill>
          <a:ln w="1778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45920" y="384048"/>
            <a:ext cx="8229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53334"/>
                </a:solidFill>
                <a:latin typeface="Mulish"/>
              </a:defRPr>
            </a:pPr>
            <a:r>
              <a:t>DATAQUEST 3.0  ·  ROUND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621792"/>
            <a:ext cx="91440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600" b="1">
                <a:solidFill>
                  <a:srgbClr val="FD1485"/>
                </a:solidFill>
                <a:latin typeface="Fjalla One"/>
              </a:rPr>
              <a:t>06  </a:t>
            </a:r>
            <a:r>
              <a:rPr sz="3200" b="1">
                <a:solidFill>
                  <a:srgbClr val="353334"/>
                </a:solidFill>
                <a:latin typeface="Fjalla One"/>
              </a:rPr>
              <a:t>Impact &amp; Metrics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0" y="1444752"/>
            <a:ext cx="9418320" cy="1905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45920" y="1517904"/>
            <a:ext cx="94183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>
                <a:solidFill>
                  <a:srgbClr val="6E6E73"/>
                </a:solidFill>
                <a:latin typeface="Mulish"/>
              </a:defRPr>
            </a:pPr>
            <a:r>
              <a:t>Primary measurable impact · Transparent calculation · Stakeholder advantages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45920" y="2011680"/>
            <a:ext cx="9418320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965960" y="188366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FD1485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Mulish"/>
              </a:defRPr>
            </a:pPr>
            <a:r>
              <a:t>PRIMARY METRIC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219456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D1485"/>
                </a:solidFill>
                <a:latin typeface="Fjalla One"/>
              </a:defRPr>
            </a:pPr>
            <a:r>
              <a:rPr lang="en-US" sz="4000" b="1" dirty="0">
                <a:solidFill>
                  <a:srgbClr val="FD1485"/>
                </a:solidFill>
                <a:latin typeface="Fjalla One"/>
              </a:rPr>
              <a:t>END-TO-END</a:t>
            </a:r>
          </a:p>
          <a:p>
            <a:pPr>
              <a:spcBef>
                <a:spcPts val="200"/>
              </a:spcBef>
              <a:defRPr sz="1200" b="1">
                <a:solidFill>
                  <a:srgbClr val="353334"/>
                </a:solidFill>
                <a:latin typeface="Fjalla One"/>
              </a:defRPr>
            </a:pPr>
            <a:r>
              <a:rPr lang="en-US" sz="1200" b="1" dirty="0">
                <a:solidFill>
                  <a:srgbClr val="353334"/>
                </a:solidFill>
                <a:latin typeface="Fjalla One"/>
              </a:rPr>
              <a:t>WORKFLOW COVERAGE</a:t>
            </a:r>
          </a:p>
          <a:p>
            <a:pPr>
              <a:spcBef>
                <a:spcPts val="500"/>
              </a:spcBef>
              <a:defRPr sz="950">
                <a:solidFill>
                  <a:srgbClr val="3C3C41"/>
                </a:solidFill>
                <a:latin typeface="Mulish"/>
              </a:defRPr>
            </a:pPr>
            <a:r>
              <a:rPr lang="en-US" sz="950" dirty="0">
                <a:solidFill>
                  <a:srgbClr val="3C3C41"/>
                </a:solidFill>
                <a:latin typeface="Mulish"/>
              </a:rPr>
              <a:t>Complete maintenance lifecycle: request intake → classification → validation → matching → resource coordination → approval → execution → exception recovery → verification → closure.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228600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53334"/>
                </a:solidFill>
                <a:latin typeface="Fjalla One"/>
              </a:defRPr>
            </a:pPr>
            <a:r>
              <a:rPr lang="en-US" sz="1200" b="1" dirty="0">
                <a:solidFill>
                  <a:srgbClr val="353334"/>
                </a:solidFill>
                <a:latin typeface="Fjalla One"/>
              </a:rPr>
              <a:t>HOW IT WAS MEASURED</a:t>
            </a:r>
          </a:p>
          <a:p>
            <a:pPr>
              <a:spcBef>
                <a:spcPts val="400"/>
              </a:spcBef>
              <a:defRPr sz="1000">
                <a:solidFill>
                  <a:srgbClr val="3C3C41"/>
                </a:solidFill>
                <a:latin typeface="Mulish"/>
              </a:defRPr>
            </a:pPr>
            <a:r>
              <a:rPr lang="en-US" sz="1000" b="1" dirty="0">
                <a:solidFill>
                  <a:srgbClr val="3C3C41"/>
                </a:solidFill>
                <a:latin typeface="Mulish"/>
              </a:rPr>
              <a:t>Scenario-based prototype validation </a:t>
            </a:r>
            <a:r>
              <a:rPr lang="en-US" sz="1000" dirty="0">
                <a:solidFill>
                  <a:srgbClr val="3C3C41"/>
                </a:solidFill>
                <a:latin typeface="Mulish"/>
              </a:rPr>
              <a:t>using the M-104 reactive maintenance workflow.</a:t>
            </a:r>
          </a:p>
          <a:p>
            <a:pPr>
              <a:spcBef>
                <a:spcPts val="500"/>
              </a:spcBef>
              <a:defRPr sz="1000">
                <a:solidFill>
                  <a:srgbClr val="3C3C41"/>
                </a:solidFill>
                <a:latin typeface="Mulish"/>
              </a:defRPr>
            </a:pPr>
            <a:r>
              <a:rPr lang="en-US" sz="1000" dirty="0">
                <a:solidFill>
                  <a:srgbClr val="3C3C41"/>
                </a:solidFill>
                <a:latin typeface="Mulish"/>
              </a:rPr>
              <a:t>The scenario exercises the complete orchestration path, including technician dropout and resource-shortage recovery.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45920" y="4114800"/>
            <a:ext cx="2971800" cy="24231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965960" y="398678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079ED2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Mulish"/>
              </a:defRPr>
            </a:pPr>
            <a:r>
              <a:t>IMPACT 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4343400"/>
            <a:ext cx="2606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3334"/>
                </a:solidFill>
                <a:latin typeface="Fjalla One"/>
              </a:defRPr>
            </a:pPr>
            <a:r>
              <a:rPr lang="en-US" sz="1100" b="1" dirty="0">
                <a:solidFill>
                  <a:srgbClr val="353334"/>
                </a:solidFill>
                <a:latin typeface="Fjalla One"/>
              </a:rPr>
              <a:t>WHAT IMPROVES</a:t>
            </a:r>
          </a:p>
          <a:p>
            <a:pPr>
              <a:spcBef>
                <a:spcPts val="400"/>
              </a:spcBef>
              <a:defRPr sz="950">
                <a:solidFill>
                  <a:srgbClr val="3C3C41"/>
                </a:solidFill>
                <a:latin typeface="Mulish"/>
              </a:defRPr>
            </a:pPr>
            <a:r>
              <a:rPr lang="en-US" sz="950" b="1" dirty="0">
                <a:solidFill>
                  <a:srgbClr val="FD1485"/>
                </a:solidFill>
                <a:latin typeface="Mulish"/>
              </a:rPr>
              <a:t>Fragmented coordination → Unified orchestration</a:t>
            </a:r>
          </a:p>
          <a:p>
            <a:pPr marL="171450" indent="-171450">
              <a:spcBef>
                <a:spcPts val="250"/>
              </a:spcBef>
              <a:buClr>
                <a:srgbClr val="FD1485"/>
              </a:buClr>
              <a:buFont typeface="Arial"/>
              <a:buChar char="•"/>
              <a:defRPr sz="950">
                <a:solidFill>
                  <a:srgbClr val="3C3C41"/>
                </a:solidFill>
                <a:latin typeface="Mulish"/>
              </a:defRPr>
            </a:pPr>
            <a:r>
              <a:rPr lang="en-US" sz="950" dirty="0">
                <a:solidFill>
                  <a:srgbClr val="3C3C41"/>
                </a:solidFill>
                <a:latin typeface="Mulish"/>
              </a:rPr>
              <a:t>Faster resource identification</a:t>
            </a:r>
          </a:p>
          <a:p>
            <a:pPr marL="171450" indent="-171450">
              <a:spcBef>
                <a:spcPts val="250"/>
              </a:spcBef>
              <a:buClr>
                <a:srgbClr val="FD1485"/>
              </a:buClr>
              <a:buFont typeface="Arial"/>
              <a:buChar char="•"/>
              <a:defRPr sz="950">
                <a:solidFill>
                  <a:srgbClr val="3C3C41"/>
                </a:solidFill>
                <a:latin typeface="Mulish"/>
              </a:defRPr>
            </a:pPr>
            <a:r>
              <a:rPr lang="en-US" sz="950" dirty="0">
                <a:solidFill>
                  <a:srgbClr val="3C3C41"/>
                </a:solidFill>
                <a:latin typeface="Mulish"/>
              </a:rPr>
              <a:t>Better technician selection</a:t>
            </a:r>
          </a:p>
          <a:p>
            <a:pPr marL="171450" indent="-171450">
              <a:spcBef>
                <a:spcPts val="250"/>
              </a:spcBef>
              <a:buClr>
                <a:srgbClr val="FD1485"/>
              </a:buClr>
              <a:buFont typeface="Arial"/>
              <a:buChar char="•"/>
              <a:defRPr sz="950">
                <a:solidFill>
                  <a:srgbClr val="3C3C41"/>
                </a:solidFill>
                <a:latin typeface="Mulish"/>
              </a:defRPr>
            </a:pPr>
            <a:r>
              <a:rPr lang="en-US" sz="950" dirty="0">
                <a:solidFill>
                  <a:srgbClr val="3C3C41"/>
                </a:solidFill>
                <a:latin typeface="Mulish"/>
              </a:rPr>
              <a:t>Earlier SLA risk detection</a:t>
            </a:r>
          </a:p>
          <a:p>
            <a:pPr marL="171450" indent="-171450">
              <a:spcBef>
                <a:spcPts val="250"/>
              </a:spcBef>
              <a:buClr>
                <a:srgbClr val="FD1485"/>
              </a:buClr>
              <a:buFont typeface="Arial"/>
              <a:buChar char="•"/>
              <a:defRPr sz="950">
                <a:solidFill>
                  <a:srgbClr val="3C3C41"/>
                </a:solidFill>
                <a:latin typeface="Mulish"/>
              </a:defRPr>
            </a:pPr>
            <a:r>
              <a:rPr lang="en-US" sz="950" dirty="0">
                <a:solidFill>
                  <a:srgbClr val="3C3C41"/>
                </a:solidFill>
                <a:latin typeface="Mulish"/>
              </a:rPr>
              <a:t>Faster exception recovery</a:t>
            </a:r>
          </a:p>
          <a:p>
            <a:pPr marL="171450" indent="-171450">
              <a:spcBef>
                <a:spcPts val="250"/>
              </a:spcBef>
              <a:buClr>
                <a:srgbClr val="FD1485"/>
              </a:buClr>
              <a:buFont typeface="Arial"/>
              <a:buChar char="•"/>
              <a:defRPr sz="950">
                <a:solidFill>
                  <a:srgbClr val="3C3C41"/>
                </a:solidFill>
                <a:latin typeface="Mulish"/>
              </a:defRPr>
            </a:pPr>
            <a:r>
              <a:rPr lang="en-US" sz="950" dirty="0">
                <a:solidFill>
                  <a:srgbClr val="3C3C41"/>
                </a:solidFill>
                <a:latin typeface="Mulish"/>
              </a:rPr>
              <a:t>Centralized operational visibility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64608" y="4114800"/>
            <a:ext cx="2971800" cy="24231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184648" y="398678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FFB903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353334"/>
                </a:solidFill>
                <a:latin typeface="Mulish"/>
              </a:defRPr>
            </a:pPr>
            <a:r>
              <a:t>IMPACT 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4343400"/>
            <a:ext cx="2606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3334"/>
                </a:solidFill>
                <a:latin typeface="Fjalla One"/>
              </a:defRPr>
            </a:pPr>
            <a:r>
              <a:rPr lang="en-US" sz="1100" b="1" dirty="0">
                <a:solidFill>
                  <a:srgbClr val="353334"/>
                </a:solidFill>
                <a:latin typeface="Fjalla One"/>
              </a:rPr>
              <a:t>WHO ELSE BENEFITS</a:t>
            </a:r>
          </a:p>
          <a:p>
            <a:pPr>
              <a:spcBef>
                <a:spcPts val="400"/>
              </a:spcBef>
              <a:defRPr sz="950">
                <a:solidFill>
                  <a:srgbClr val="3C3C41"/>
                </a:solidFill>
                <a:latin typeface="Mulish"/>
              </a:defRPr>
            </a:pPr>
            <a:r>
              <a:rPr lang="en-US" sz="950" b="1" dirty="0">
                <a:solidFill>
                  <a:srgbClr val="3C3C41"/>
                </a:solidFill>
                <a:latin typeface="Mulish"/>
              </a:rPr>
              <a:t>Customers: </a:t>
            </a:r>
            <a:r>
              <a:rPr lang="en-US" sz="950" dirty="0">
                <a:solidFill>
                  <a:srgbClr val="3C3C41"/>
                </a:solidFill>
                <a:latin typeface="Mulish"/>
              </a:rPr>
              <a:t>faster, more transparent service</a:t>
            </a:r>
          </a:p>
          <a:p>
            <a:pPr>
              <a:spcBef>
                <a:spcPts val="350"/>
              </a:spcBef>
              <a:defRPr sz="950">
                <a:solidFill>
                  <a:srgbClr val="3C3C41"/>
                </a:solidFill>
                <a:latin typeface="Mulish"/>
              </a:defRPr>
            </a:pPr>
            <a:r>
              <a:rPr lang="en-US" sz="950" b="1" dirty="0">
                <a:solidFill>
                  <a:srgbClr val="3C3C41"/>
                </a:solidFill>
                <a:latin typeface="Mulish"/>
              </a:rPr>
              <a:t>Technicians: </a:t>
            </a:r>
            <a:r>
              <a:rPr lang="en-US" sz="950" dirty="0">
                <a:solidFill>
                  <a:srgbClr val="3C3C41"/>
                </a:solidFill>
                <a:latin typeface="Mulish"/>
              </a:rPr>
              <a:t>clearer assignments, checklists and resources</a:t>
            </a:r>
          </a:p>
          <a:p>
            <a:pPr>
              <a:spcBef>
                <a:spcPts val="350"/>
              </a:spcBef>
              <a:defRPr sz="950">
                <a:solidFill>
                  <a:srgbClr val="3C3C41"/>
                </a:solidFill>
                <a:latin typeface="Mulish"/>
              </a:defRPr>
            </a:pPr>
            <a:r>
              <a:rPr lang="en-US" sz="950" b="1" dirty="0">
                <a:solidFill>
                  <a:srgbClr val="3C3C41"/>
                </a:solidFill>
                <a:latin typeface="Mulish"/>
              </a:rPr>
              <a:t>Managers: </a:t>
            </a:r>
            <a:r>
              <a:rPr lang="en-US" sz="950" dirty="0">
                <a:solidFill>
                  <a:srgbClr val="3C3C41"/>
                </a:solidFill>
                <a:latin typeface="Mulish"/>
              </a:rPr>
              <a:t>centralized command and exception visibility</a:t>
            </a:r>
          </a:p>
          <a:p>
            <a:pPr>
              <a:spcBef>
                <a:spcPts val="350"/>
              </a:spcBef>
              <a:defRPr sz="950">
                <a:solidFill>
                  <a:srgbClr val="3C3C41"/>
                </a:solidFill>
                <a:latin typeface="Mulish"/>
              </a:defRPr>
            </a:pPr>
            <a:r>
              <a:rPr lang="en-US" sz="950" b="1" dirty="0">
                <a:solidFill>
                  <a:srgbClr val="3C3C41"/>
                </a:solidFill>
                <a:latin typeface="Mulish"/>
              </a:rPr>
              <a:t>Inventory teams: </a:t>
            </a:r>
            <a:r>
              <a:rPr lang="en-US" sz="950" dirty="0">
                <a:solidFill>
                  <a:srgbClr val="3C3C41"/>
                </a:solidFill>
                <a:latin typeface="Mulish"/>
              </a:rPr>
              <a:t>proactive resource coordination</a:t>
            </a:r>
          </a:p>
          <a:p>
            <a:pPr>
              <a:spcBef>
                <a:spcPts val="350"/>
              </a:spcBef>
              <a:defRPr sz="950">
                <a:solidFill>
                  <a:srgbClr val="3C3C41"/>
                </a:solidFill>
                <a:latin typeface="Mulish"/>
              </a:defRPr>
            </a:pPr>
            <a:r>
              <a:rPr lang="en-US" sz="950" b="1" dirty="0">
                <a:solidFill>
                  <a:srgbClr val="3C3C41"/>
                </a:solidFill>
                <a:latin typeface="Mulish"/>
              </a:rPr>
              <a:t>Equipment owners: </a:t>
            </a:r>
            <a:r>
              <a:rPr lang="en-US" sz="950" dirty="0">
                <a:solidFill>
                  <a:srgbClr val="3C3C41"/>
                </a:solidFill>
                <a:latin typeface="Mulish"/>
              </a:rPr>
              <a:t>complete machine service history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83296" y="4114800"/>
            <a:ext cx="2971800" cy="24231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8403336" y="398678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353334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Mulish"/>
              </a:defRPr>
            </a:pPr>
            <a:r>
              <a:t>IMPACT 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66176" y="4343400"/>
            <a:ext cx="26060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53334"/>
                </a:solidFill>
                <a:latin typeface="Fjalla One"/>
              </a:defRPr>
            </a:pPr>
            <a:r>
              <a:rPr lang="en-US" sz="1100" b="1" dirty="0">
                <a:solidFill>
                  <a:srgbClr val="353334"/>
                </a:solidFill>
                <a:latin typeface="Fjalla One"/>
              </a:rPr>
              <a:t>RISKS / MISUSE</a:t>
            </a:r>
          </a:p>
          <a:p>
            <a:pPr>
              <a:spcBef>
                <a:spcPts val="400"/>
              </a:spcBef>
              <a:defRPr sz="950">
                <a:solidFill>
                  <a:srgbClr val="3C3C41"/>
                </a:solidFill>
                <a:latin typeface="Mulish"/>
              </a:defRPr>
            </a:pPr>
            <a:r>
              <a:rPr lang="en-US" sz="950" b="1" dirty="0">
                <a:solidFill>
                  <a:srgbClr val="3C3C41"/>
                </a:solidFill>
                <a:latin typeface="Mulish"/>
              </a:rPr>
              <a:t>Risks: </a:t>
            </a:r>
            <a:r>
              <a:rPr lang="en-US" sz="950" dirty="0">
                <a:solidFill>
                  <a:srgbClr val="3C3C41"/>
                </a:solidFill>
                <a:latin typeface="Mulish"/>
              </a:rPr>
              <a:t>incorrect AI classification, poor input data, incorrect recommendations, unauthorized actions, privacy/security issues, over-reliance on AI.</a:t>
            </a:r>
          </a:p>
          <a:p>
            <a:pPr>
              <a:spcBef>
                <a:spcPts val="500"/>
              </a:spcBef>
              <a:defRPr sz="950">
                <a:solidFill>
                  <a:srgbClr val="3C3C41"/>
                </a:solidFill>
                <a:latin typeface="Mulish"/>
              </a:defRPr>
            </a:pPr>
            <a:r>
              <a:rPr lang="en-US" sz="950" b="1" dirty="0">
                <a:solidFill>
                  <a:srgbClr val="FD1485"/>
                </a:solidFill>
                <a:latin typeface="Mulish"/>
              </a:rPr>
              <a:t>Mitigation: </a:t>
            </a:r>
            <a:r>
              <a:rPr lang="en-US" sz="950" dirty="0">
                <a:solidFill>
                  <a:srgbClr val="3C3C41"/>
                </a:solidFill>
                <a:latin typeface="Mulish"/>
              </a:rPr>
              <a:t>RBAC + deterministic validation + human approval + structured AI outputs + audit logs + transactional constraints.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182880" y="10515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182880" y="1453896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-182880" y="18562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521440" y="548640"/>
            <a:ext cx="219456" cy="164592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521440" y="713232"/>
            <a:ext cx="219456" cy="164592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521440" y="877824"/>
            <a:ext cx="219456" cy="164592"/>
          </a:xfrm>
          <a:prstGeom prst="rect">
            <a:avLst/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521440" y="1042416"/>
            <a:ext cx="219456" cy="164592"/>
          </a:xfrm>
          <a:prstGeom prst="rect">
            <a:avLst/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219456" cy="164592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5742432"/>
            <a:ext cx="219456" cy="164592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907024"/>
            <a:ext cx="219456" cy="164592"/>
          </a:xfrm>
          <a:prstGeom prst="rect">
            <a:avLst/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6071616"/>
            <a:ext cx="219456" cy="164592"/>
          </a:xfrm>
          <a:prstGeom prst="rect">
            <a:avLst/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087100" y="5934075"/>
            <a:ext cx="320040" cy="1905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237595" y="5783580"/>
            <a:ext cx="19050" cy="32004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1192256" y="5888736"/>
            <a:ext cx="109728" cy="109728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Arc 16"/>
          <p:cNvSpPr/>
          <p:nvPr/>
        </p:nvSpPr>
        <p:spPr>
          <a:xfrm>
            <a:off x="8412480" y="640080"/>
            <a:ext cx="1005840" cy="822960"/>
          </a:xfrm>
          <a:prstGeom prst="arc">
            <a:avLst/>
          </a:prstGeom>
          <a:noFill/>
          <a:ln w="19050">
            <a:solidFill>
              <a:srgbClr val="079E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371332" y="1010412"/>
            <a:ext cx="82296" cy="82296"/>
          </a:xfrm>
          <a:prstGeom prst="rect">
            <a:avLst/>
          </a:prstGeom>
          <a:solidFill>
            <a:srgbClr val="FFFFFF"/>
          </a:solidFill>
          <a:ln w="1778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377172" y="598932"/>
            <a:ext cx="82296" cy="82296"/>
          </a:xfrm>
          <a:prstGeom prst="rect">
            <a:avLst/>
          </a:prstGeom>
          <a:solidFill>
            <a:srgbClr val="FFFFFF"/>
          </a:solidFill>
          <a:ln w="1778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45920" y="384048"/>
            <a:ext cx="8229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53334"/>
                </a:solidFill>
                <a:latin typeface="Mulish"/>
              </a:defRPr>
            </a:pPr>
            <a:r>
              <a:t>DATAQUEST 3.0  ·  ROUND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621792"/>
            <a:ext cx="91440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600" b="1">
                <a:solidFill>
                  <a:srgbClr val="FD1485"/>
                </a:solidFill>
                <a:latin typeface="Fjalla One"/>
              </a:rPr>
              <a:t>07  </a:t>
            </a:r>
            <a:r>
              <a:rPr sz="3200" b="1">
                <a:solidFill>
                  <a:srgbClr val="353334"/>
                </a:solidFill>
                <a:latin typeface="Fjalla One"/>
              </a:rPr>
              <a:t>Why This Project?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0" y="1444752"/>
            <a:ext cx="9418320" cy="1905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45920" y="1517904"/>
            <a:ext cx="94183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>
                <a:solidFill>
                  <a:srgbClr val="6E6E73"/>
                </a:solidFill>
                <a:latin typeface="Mulish"/>
              </a:defRPr>
            </a:pPr>
            <a:r>
              <a:t>Direct contrast with today's alternatives · Unfair technical advantage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45920" y="2011680"/>
            <a:ext cx="4572000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965960" y="188366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353334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Mulish"/>
              </a:defRPr>
            </a:pPr>
            <a:r>
              <a:t>STATUS QUO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2286000"/>
            <a:ext cx="4023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53334"/>
                </a:solidFill>
                <a:latin typeface="Fjalla One"/>
              </a:defRPr>
            </a:pPr>
            <a:r>
              <a:rPr lang="en-US" sz="1400" b="1" dirty="0">
                <a:solidFill>
                  <a:srgbClr val="353334"/>
                </a:solidFill>
                <a:latin typeface="Fjalla One"/>
              </a:rPr>
              <a:t>CURRENT APPROACH</a:t>
            </a:r>
          </a:p>
          <a:p>
            <a:pPr>
              <a:spcBef>
                <a:spcPts val="400"/>
              </a:spcBef>
              <a:defRPr sz="1100">
                <a:solidFill>
                  <a:srgbClr val="3C3C41"/>
                </a:solidFill>
                <a:latin typeface="Mulish"/>
              </a:defRPr>
            </a:pPr>
            <a:r>
              <a:rPr lang="en-US" sz="1100" dirty="0">
                <a:solidFill>
                  <a:srgbClr val="3C3C41"/>
                </a:solidFill>
                <a:latin typeface="Mulish"/>
              </a:rPr>
              <a:t>Maintenance requests, technicians, inventory, approvals and service history are often managed as separate operational activities.</a:t>
            </a:r>
          </a:p>
          <a:p>
            <a:pPr>
              <a:spcBef>
                <a:spcPts val="800"/>
              </a:spcBef>
              <a:defRPr sz="1100">
                <a:solidFill>
                  <a:srgbClr val="3C3C41"/>
                </a:solidFill>
                <a:latin typeface="Mulish"/>
              </a:defRPr>
            </a:pPr>
            <a:r>
              <a:rPr lang="en-US" sz="1100" dirty="0">
                <a:solidFill>
                  <a:srgbClr val="3C3C41"/>
                </a:solidFill>
                <a:latin typeface="Mulish"/>
              </a:rPr>
              <a:t>When a technician drops out or a resource becomes unavailable, recovery depends heavily on manual coordination.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2011680"/>
            <a:ext cx="4572000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6812280" y="188366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079ED2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Mulish"/>
              </a:defRPr>
            </a:pPr>
            <a:r>
              <a:t>OUR SOLUTION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2286000"/>
            <a:ext cx="4023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353334"/>
                </a:solidFill>
                <a:latin typeface="Fjalla One"/>
              </a:defRPr>
            </a:pPr>
            <a:r>
              <a:rPr lang="en-US" sz="1400" b="1" dirty="0">
                <a:solidFill>
                  <a:srgbClr val="353334"/>
                </a:solidFill>
                <a:latin typeface="Fjalla One"/>
              </a:rPr>
              <a:t>OUR APPROACH</a:t>
            </a:r>
          </a:p>
          <a:p>
            <a:pPr>
              <a:spcBef>
                <a:spcPts val="400"/>
              </a:spcBef>
              <a:defRPr sz="1100">
                <a:solidFill>
                  <a:srgbClr val="3C3C41"/>
                </a:solidFill>
                <a:latin typeface="Mulish"/>
              </a:defRPr>
            </a:pPr>
            <a:r>
              <a:rPr lang="en-US" sz="1100" dirty="0">
                <a:solidFill>
                  <a:srgbClr val="3C3C41"/>
                </a:solidFill>
                <a:latin typeface="Mulish"/>
              </a:rPr>
              <a:t>DQBH treats maintenance as </a:t>
            </a:r>
            <a:r>
              <a:rPr lang="en-US" sz="1100" b="1" dirty="0">
                <a:solidFill>
                  <a:srgbClr val="3C3C41"/>
                </a:solidFill>
                <a:latin typeface="Mulish"/>
              </a:rPr>
              <a:t>one continuously orchestrated workflow:</a:t>
            </a:r>
          </a:p>
          <a:p>
            <a:pPr>
              <a:spcBef>
                <a:spcPts val="500"/>
              </a:spcBef>
              <a:defRPr sz="1100">
                <a:solidFill>
                  <a:srgbClr val="3C3C41"/>
                </a:solidFill>
                <a:latin typeface="Mulish"/>
              </a:defRPr>
            </a:pPr>
            <a:r>
              <a:rPr lang="en-US" sz="1100" b="1" dirty="0">
                <a:solidFill>
                  <a:srgbClr val="FD1485"/>
                </a:solidFill>
                <a:latin typeface="Mulish"/>
              </a:rPr>
              <a:t>Request → Machine → SLA → Technician → Parts → Approval → Execution → Exception → Reassignment → Verification → History</a:t>
            </a:r>
          </a:p>
          <a:p>
            <a:pPr>
              <a:spcBef>
                <a:spcPts val="500"/>
              </a:spcBef>
              <a:defRPr sz="1100">
                <a:solidFill>
                  <a:srgbClr val="3C3C41"/>
                </a:solidFill>
                <a:latin typeface="Mulish"/>
              </a:defRPr>
            </a:pPr>
            <a:r>
              <a:rPr lang="en-US" sz="1100" dirty="0">
                <a:solidFill>
                  <a:srgbClr val="3C3C41"/>
                </a:solidFill>
                <a:latin typeface="Mulish"/>
              </a:rPr>
              <a:t>The system continuously evaluates operational feasibility instead of making a one-time assignment.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645920" y="4892040"/>
            <a:ext cx="9418320" cy="1645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905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965960" y="4764024"/>
            <a:ext cx="1600200" cy="256032"/>
          </a:xfrm>
          <a:prstGeom prst="roundRect">
            <a:avLst>
              <a:gd name="adj" fmla="val 50000"/>
            </a:avLst>
          </a:prstGeom>
          <a:solidFill>
            <a:srgbClr val="FD1485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FFFFFF"/>
                </a:solidFill>
                <a:latin typeface="Mulish"/>
              </a:defRPr>
            </a:pPr>
            <a:r>
              <a:t>MOAT / DIFFERENTIATION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5120640"/>
            <a:ext cx="8869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D1485"/>
                </a:solidFill>
                <a:latin typeface="Fjalla One"/>
              </a:defRPr>
            </a:pPr>
            <a:r>
              <a:rPr lang="en-US" sz="1200" b="1" dirty="0">
                <a:solidFill>
                  <a:srgbClr val="FD1485"/>
                </a:solidFill>
                <a:latin typeface="Fjalla One"/>
              </a:rPr>
              <a:t>KEY DIFFERENCE</a:t>
            </a:r>
          </a:p>
          <a:p>
            <a:pPr>
              <a:spcBef>
                <a:spcPts val="400"/>
              </a:spcBef>
              <a:defRPr sz="1400" b="1">
                <a:solidFill>
                  <a:srgbClr val="353334"/>
                </a:solidFill>
                <a:latin typeface="Fjalla One"/>
              </a:defRPr>
            </a:pPr>
            <a:r>
              <a:rPr lang="en-US" sz="1400" b="1" dirty="0">
                <a:solidFill>
                  <a:srgbClr val="353334"/>
                </a:solidFill>
                <a:latin typeface="Fjalla One"/>
              </a:rPr>
              <a:t>“DQBH does not merely recommend who should perform a job — it closes the loop between AI recommendations and deterministic operational execution, including resource validation, reservation, exception recovery, dynamic reassignment and verified service history.”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-182880" y="10515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-182880" y="1453896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-182880" y="185623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521440" y="548640"/>
            <a:ext cx="219456" cy="164592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521440" y="713232"/>
            <a:ext cx="219456" cy="164592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521440" y="877824"/>
            <a:ext cx="219456" cy="164592"/>
          </a:xfrm>
          <a:prstGeom prst="rect">
            <a:avLst/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521440" y="1042416"/>
            <a:ext cx="219456" cy="164592"/>
          </a:xfrm>
          <a:prstGeom prst="rect">
            <a:avLst/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5577840"/>
            <a:ext cx="219456" cy="164592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5742432"/>
            <a:ext cx="219456" cy="164592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907024"/>
            <a:ext cx="219456" cy="164592"/>
          </a:xfrm>
          <a:prstGeom prst="rect">
            <a:avLst/>
          </a:prstGeom>
          <a:solidFill>
            <a:srgbClr val="FD14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48640" y="6071616"/>
            <a:ext cx="219456" cy="164592"/>
          </a:xfrm>
          <a:prstGeom prst="rect">
            <a:avLst/>
          </a:prstGeom>
          <a:solidFill>
            <a:srgbClr val="079E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087100" y="5934075"/>
            <a:ext cx="320040" cy="1905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237595" y="5783580"/>
            <a:ext cx="19050" cy="32004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1192256" y="5888736"/>
            <a:ext cx="109728" cy="109728"/>
          </a:xfrm>
          <a:prstGeom prst="rect">
            <a:avLst/>
          </a:prstGeom>
          <a:solidFill>
            <a:srgbClr val="FFB9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Arc 16"/>
          <p:cNvSpPr/>
          <p:nvPr/>
        </p:nvSpPr>
        <p:spPr>
          <a:xfrm>
            <a:off x="8412480" y="640080"/>
            <a:ext cx="1005840" cy="822960"/>
          </a:xfrm>
          <a:prstGeom prst="arc">
            <a:avLst/>
          </a:prstGeom>
          <a:noFill/>
          <a:ln w="19050">
            <a:solidFill>
              <a:srgbClr val="079E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371332" y="1010412"/>
            <a:ext cx="82296" cy="82296"/>
          </a:xfrm>
          <a:prstGeom prst="rect">
            <a:avLst/>
          </a:prstGeom>
          <a:solidFill>
            <a:srgbClr val="FFFFFF"/>
          </a:solidFill>
          <a:ln w="1778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377172" y="598932"/>
            <a:ext cx="82296" cy="82296"/>
          </a:xfrm>
          <a:prstGeom prst="rect">
            <a:avLst/>
          </a:prstGeom>
          <a:solidFill>
            <a:srgbClr val="FFFFFF"/>
          </a:solidFill>
          <a:ln w="1778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645920" y="384048"/>
            <a:ext cx="8229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50" b="1">
                <a:solidFill>
                  <a:srgbClr val="353334"/>
                </a:solidFill>
                <a:latin typeface="Mulish"/>
              </a:defRPr>
            </a:pPr>
            <a:r>
              <a:t>DATAQUEST 3.0  ·  ROUND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621792"/>
            <a:ext cx="91440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3600" b="1" dirty="0">
                <a:solidFill>
                  <a:srgbClr val="FD1485"/>
                </a:solidFill>
                <a:latin typeface="Fjalla One"/>
              </a:rPr>
              <a:t>08  </a:t>
            </a:r>
            <a:r>
              <a:rPr sz="3200" b="1" dirty="0">
                <a:solidFill>
                  <a:srgbClr val="353334"/>
                </a:solidFill>
                <a:latin typeface="Fjalla One"/>
              </a:rPr>
              <a:t>Extra Slide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0" y="1444752"/>
            <a:ext cx="9418320" cy="19050"/>
          </a:xfrm>
          <a:prstGeom prst="rect">
            <a:avLst/>
          </a:prstGeom>
          <a:solidFill>
            <a:srgbClr val="3533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45920" y="1517904"/>
            <a:ext cx="941832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00">
                <a:solidFill>
                  <a:srgbClr val="6E6E73"/>
                </a:solidFill>
                <a:latin typeface="Mulish"/>
              </a:defRPr>
            </a:pPr>
            <a:r>
              <a:t>Optional appendix · Extra diagrams, product screenshots, benchmarks, or backup details</a:t>
            </a:r>
          </a:p>
        </p:txBody>
      </p:sp>
      <p:sp>
        <p:nvSpPr>
          <p:cNvPr id="24" name="Demo Scenario Label"/>
          <p:cNvSpPr/>
          <p:nvPr/>
        </p:nvSpPr>
        <p:spPr>
          <a:xfrm>
            <a:off x="1645920" y="1938528"/>
            <a:ext cx="4480560" cy="256032"/>
          </a:xfrm>
          <a:prstGeom prst="roundRect">
            <a:avLst>
              <a:gd name="adj" fmla="val 50000"/>
            </a:avLst>
          </a:prstGeom>
          <a:solidFill>
            <a:srgbClr val="FFB903"/>
          </a:solidFill>
          <a:ln w="15240">
            <a:solidFill>
              <a:srgbClr val="3533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defRPr sz="850" b="1">
                <a:solidFill>
                  <a:srgbClr val="353334"/>
                </a:solidFill>
                <a:latin typeface="Mulish"/>
              </a:defRPr>
            </a:pPr>
            <a:r>
              <a:t>END-TO-END DEMO SCENARIO  ·  M-104 ABNORMAL VIBRATION</a:t>
            </a:r>
          </a:p>
        </p:txBody>
      </p:sp>
      <p:sp>
        <p:nvSpPr>
          <p:cNvPr id="25" name="Step 1"/>
          <p:cNvSpPr/>
          <p:nvPr/>
        </p:nvSpPr>
        <p:spPr>
          <a:xfrm>
            <a:off x="1645920" y="2359152"/>
            <a:ext cx="13716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79E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73152" rIns="64008" rtlCol="0" anchor="t"/>
          <a:lstStyle/>
          <a:p>
            <a:pPr algn="ctr">
              <a:defRPr sz="2000" b="1">
                <a:solidFill>
                  <a:srgbClr val="079ED2"/>
                </a:solidFill>
                <a:latin typeface="Fjalla One"/>
              </a:defRPr>
            </a:pPr>
            <a:r>
              <a:rPr lang="en-US" sz="2000" b="1" dirty="0">
                <a:solidFill>
                  <a:srgbClr val="079ED2"/>
                </a:solidFill>
                <a:latin typeface="Fjalla One"/>
              </a:rPr>
              <a:t>01</a:t>
            </a:r>
          </a:p>
          <a:p>
            <a:pPr algn="ctr">
              <a:spcBef>
                <a:spcPts val="100"/>
              </a:spcBef>
              <a:defRPr sz="1000" b="1">
                <a:solidFill>
                  <a:srgbClr val="353334"/>
                </a:solidFill>
                <a:latin typeface="Fjalla One"/>
              </a:defRPr>
            </a:pPr>
            <a:r>
              <a:rPr lang="en-US" sz="1000" b="1" dirty="0">
                <a:solidFill>
                  <a:srgbClr val="353334"/>
                </a:solidFill>
                <a:latin typeface="Fjalla One"/>
              </a:rPr>
              <a:t>REQUEST</a:t>
            </a:r>
          </a:p>
          <a:p>
            <a:pPr algn="ctr">
              <a:spcBef>
                <a:spcPts val="3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dirty="0">
                <a:solidFill>
                  <a:srgbClr val="3C3C41"/>
                </a:solidFill>
                <a:latin typeface="Mulish"/>
              </a:rPr>
              <a:t>Customer reports abnormal vibration.</a:t>
            </a:r>
          </a:p>
        </p:txBody>
      </p:sp>
      <p:sp>
        <p:nvSpPr>
          <p:cNvPr id="26" name="Step Arrow 1"/>
          <p:cNvSpPr txBox="1"/>
          <p:nvPr/>
        </p:nvSpPr>
        <p:spPr>
          <a:xfrm>
            <a:off x="3017520" y="2884932"/>
            <a:ext cx="23774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300" b="1">
                <a:solidFill>
                  <a:srgbClr val="FD1485"/>
                </a:solidFill>
                <a:latin typeface="Fjalla One"/>
              </a:defRPr>
            </a:pPr>
            <a:r>
              <a:rPr lang="en-US" sz="1300" b="1" dirty="0">
                <a:solidFill>
                  <a:srgbClr val="FD1485"/>
                </a:solidFill>
                <a:latin typeface="Fjalla One"/>
              </a:rPr>
              <a:t>➔</a:t>
            </a:r>
          </a:p>
        </p:txBody>
      </p:sp>
      <p:sp>
        <p:nvSpPr>
          <p:cNvPr id="27" name="Step 2"/>
          <p:cNvSpPr/>
          <p:nvPr/>
        </p:nvSpPr>
        <p:spPr>
          <a:xfrm>
            <a:off x="3255264" y="2359152"/>
            <a:ext cx="13716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FB9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73152" rIns="64008" rtlCol="0" anchor="t"/>
          <a:lstStyle/>
          <a:p>
            <a:pPr algn="ctr">
              <a:defRPr sz="2000" b="1">
                <a:solidFill>
                  <a:srgbClr val="E0A000"/>
                </a:solidFill>
                <a:latin typeface="Fjalla One"/>
              </a:defRPr>
            </a:pPr>
            <a:r>
              <a:rPr lang="en-US" sz="2000" b="1" dirty="0">
                <a:solidFill>
                  <a:srgbClr val="E0A000"/>
                </a:solidFill>
                <a:latin typeface="Fjalla One"/>
              </a:rPr>
              <a:t>02</a:t>
            </a:r>
          </a:p>
          <a:p>
            <a:pPr algn="ctr">
              <a:spcBef>
                <a:spcPts val="100"/>
              </a:spcBef>
              <a:defRPr sz="1000" b="1">
                <a:solidFill>
                  <a:srgbClr val="353334"/>
                </a:solidFill>
                <a:latin typeface="Fjalla One"/>
              </a:defRPr>
            </a:pPr>
            <a:r>
              <a:rPr lang="en-US" sz="1000" b="1" dirty="0">
                <a:solidFill>
                  <a:srgbClr val="353334"/>
                </a:solidFill>
                <a:latin typeface="Fjalla One"/>
              </a:rPr>
              <a:t>AI UNDERSTANDS</a:t>
            </a:r>
          </a:p>
          <a:p>
            <a:pPr algn="ctr">
              <a:spcBef>
                <a:spcPts val="3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dirty="0">
                <a:solidFill>
                  <a:srgbClr val="3C3C41"/>
                </a:solidFill>
                <a:latin typeface="Mulish"/>
              </a:rPr>
              <a:t>Classifies issue, severity, skills and required resources.</a:t>
            </a:r>
          </a:p>
        </p:txBody>
      </p:sp>
      <p:sp>
        <p:nvSpPr>
          <p:cNvPr id="28" name="Step Arrow 2"/>
          <p:cNvSpPr txBox="1"/>
          <p:nvPr/>
        </p:nvSpPr>
        <p:spPr>
          <a:xfrm>
            <a:off x="4626864" y="2884932"/>
            <a:ext cx="23774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300" b="1">
                <a:solidFill>
                  <a:srgbClr val="FD1485"/>
                </a:solidFill>
                <a:latin typeface="Fjalla One"/>
              </a:defRPr>
            </a:pPr>
            <a:r>
              <a:rPr lang="en-US" sz="1300" b="1" dirty="0">
                <a:solidFill>
                  <a:srgbClr val="FD1485"/>
                </a:solidFill>
                <a:latin typeface="Fjalla One"/>
              </a:rPr>
              <a:t>➔</a:t>
            </a:r>
          </a:p>
        </p:txBody>
      </p:sp>
      <p:sp>
        <p:nvSpPr>
          <p:cNvPr id="29" name="Step 3"/>
          <p:cNvSpPr/>
          <p:nvPr/>
        </p:nvSpPr>
        <p:spPr>
          <a:xfrm>
            <a:off x="4864608" y="2359152"/>
            <a:ext cx="13716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73152" rIns="64008" rtlCol="0" anchor="t"/>
          <a:lstStyle/>
          <a:p>
            <a:pPr algn="ctr">
              <a:defRPr sz="2000" b="1">
                <a:solidFill>
                  <a:srgbClr val="FD1485"/>
                </a:solidFill>
                <a:latin typeface="Fjalla One"/>
              </a:defRPr>
            </a:pPr>
            <a:r>
              <a:rPr lang="en-US" sz="2000" b="1" dirty="0">
                <a:solidFill>
                  <a:srgbClr val="FD1485"/>
                </a:solidFill>
                <a:latin typeface="Fjalla One"/>
              </a:rPr>
              <a:t>03</a:t>
            </a:r>
          </a:p>
          <a:p>
            <a:pPr algn="ctr">
              <a:spcBef>
                <a:spcPts val="100"/>
              </a:spcBef>
              <a:defRPr sz="1000" b="1">
                <a:solidFill>
                  <a:srgbClr val="353334"/>
                </a:solidFill>
                <a:latin typeface="Fjalla One"/>
              </a:defRPr>
            </a:pPr>
            <a:r>
              <a:rPr lang="en-US" sz="1000" b="1" dirty="0">
                <a:solidFill>
                  <a:srgbClr val="353334"/>
                </a:solidFill>
                <a:latin typeface="Fjalla One"/>
              </a:rPr>
              <a:t>VALIDATE</a:t>
            </a:r>
          </a:p>
          <a:p>
            <a:pPr algn="ctr">
              <a:spcBef>
                <a:spcPts val="3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dirty="0">
                <a:solidFill>
                  <a:srgbClr val="3C3C41"/>
                </a:solidFill>
                <a:latin typeface="Mulish"/>
              </a:rPr>
              <a:t>Machine eligibility, SLA, skills and resource requirements checked.</a:t>
            </a:r>
          </a:p>
        </p:txBody>
      </p:sp>
      <p:sp>
        <p:nvSpPr>
          <p:cNvPr id="30" name="Step Arrow 3"/>
          <p:cNvSpPr txBox="1"/>
          <p:nvPr/>
        </p:nvSpPr>
        <p:spPr>
          <a:xfrm>
            <a:off x="6236208" y="2884932"/>
            <a:ext cx="23774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300" b="1">
                <a:solidFill>
                  <a:srgbClr val="FD1485"/>
                </a:solidFill>
                <a:latin typeface="Fjalla One"/>
              </a:defRPr>
            </a:pPr>
            <a:r>
              <a:rPr lang="en-US" sz="1300" b="1" dirty="0">
                <a:solidFill>
                  <a:srgbClr val="FD1485"/>
                </a:solidFill>
                <a:latin typeface="Fjalla One"/>
              </a:rPr>
              <a:t>➔</a:t>
            </a:r>
          </a:p>
        </p:txBody>
      </p:sp>
      <p:sp>
        <p:nvSpPr>
          <p:cNvPr id="31" name="Step 4"/>
          <p:cNvSpPr/>
          <p:nvPr/>
        </p:nvSpPr>
        <p:spPr>
          <a:xfrm>
            <a:off x="6473952" y="2359152"/>
            <a:ext cx="13716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79E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73152" rIns="64008" rtlCol="0" anchor="t"/>
          <a:lstStyle/>
          <a:p>
            <a:pPr algn="ctr">
              <a:defRPr sz="2000" b="1">
                <a:solidFill>
                  <a:srgbClr val="079ED2"/>
                </a:solidFill>
                <a:latin typeface="Fjalla One"/>
              </a:defRPr>
            </a:pPr>
            <a:r>
              <a:rPr lang="en-US" sz="2000" b="1" dirty="0">
                <a:solidFill>
                  <a:srgbClr val="079ED2"/>
                </a:solidFill>
                <a:latin typeface="Fjalla One"/>
              </a:rPr>
              <a:t>04</a:t>
            </a:r>
          </a:p>
          <a:p>
            <a:pPr algn="ctr">
              <a:spcBef>
                <a:spcPts val="100"/>
              </a:spcBef>
              <a:defRPr sz="1000" b="1">
                <a:solidFill>
                  <a:srgbClr val="353334"/>
                </a:solidFill>
                <a:latin typeface="Fjalla One"/>
              </a:defRPr>
            </a:pPr>
            <a:r>
              <a:rPr lang="en-US" sz="1000" b="1" dirty="0">
                <a:solidFill>
                  <a:srgbClr val="353334"/>
                </a:solidFill>
                <a:latin typeface="Fjalla One"/>
              </a:rPr>
              <a:t>MATCH</a:t>
            </a:r>
          </a:p>
          <a:p>
            <a:pPr algn="ctr">
              <a:spcBef>
                <a:spcPts val="3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dirty="0">
                <a:solidFill>
                  <a:srgbClr val="3C3C41"/>
                </a:solidFill>
                <a:latin typeface="Mulish"/>
              </a:rPr>
              <a:t>Technicians ranked on skills, availability, distance, workload, familiarity and SLA feasibility.</a:t>
            </a:r>
          </a:p>
        </p:txBody>
      </p:sp>
      <p:sp>
        <p:nvSpPr>
          <p:cNvPr id="32" name="Step Arrow 4"/>
          <p:cNvSpPr txBox="1"/>
          <p:nvPr/>
        </p:nvSpPr>
        <p:spPr>
          <a:xfrm>
            <a:off x="7845552" y="2884932"/>
            <a:ext cx="23774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300" b="1">
                <a:solidFill>
                  <a:srgbClr val="FD1485"/>
                </a:solidFill>
                <a:latin typeface="Fjalla One"/>
              </a:defRPr>
            </a:pPr>
            <a:r>
              <a:rPr lang="en-US" sz="1300" b="1" dirty="0">
                <a:solidFill>
                  <a:srgbClr val="FD1485"/>
                </a:solidFill>
                <a:latin typeface="Fjalla One"/>
              </a:rPr>
              <a:t>➔</a:t>
            </a:r>
          </a:p>
        </p:txBody>
      </p:sp>
      <p:sp>
        <p:nvSpPr>
          <p:cNvPr id="33" name="Step 5"/>
          <p:cNvSpPr/>
          <p:nvPr/>
        </p:nvSpPr>
        <p:spPr>
          <a:xfrm>
            <a:off x="8083296" y="2359152"/>
            <a:ext cx="13716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FB9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73152" rIns="64008" rtlCol="0" anchor="t"/>
          <a:lstStyle/>
          <a:p>
            <a:pPr algn="ctr">
              <a:defRPr sz="2000" b="1">
                <a:solidFill>
                  <a:srgbClr val="E0A000"/>
                </a:solidFill>
                <a:latin typeface="Fjalla One"/>
              </a:defRPr>
            </a:pPr>
            <a:r>
              <a:rPr lang="en-US" sz="2000" b="1" dirty="0">
                <a:solidFill>
                  <a:srgbClr val="E0A000"/>
                </a:solidFill>
                <a:latin typeface="Fjalla One"/>
              </a:rPr>
              <a:t>05</a:t>
            </a:r>
          </a:p>
          <a:p>
            <a:pPr algn="ctr">
              <a:spcBef>
                <a:spcPts val="100"/>
              </a:spcBef>
              <a:defRPr sz="1000" b="1">
                <a:solidFill>
                  <a:srgbClr val="353334"/>
                </a:solidFill>
                <a:latin typeface="Fjalla One"/>
              </a:defRPr>
            </a:pPr>
            <a:r>
              <a:rPr lang="en-US" sz="1000" b="1" dirty="0">
                <a:solidFill>
                  <a:srgbClr val="353334"/>
                </a:solidFill>
                <a:latin typeface="Fjalla One"/>
              </a:rPr>
              <a:t>RESOURCES</a:t>
            </a:r>
          </a:p>
          <a:p>
            <a:pPr algn="ctr">
              <a:spcBef>
                <a:spcPts val="3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dirty="0">
                <a:solidFill>
                  <a:srgbClr val="3C3C41"/>
                </a:solidFill>
                <a:latin typeface="Mulish"/>
              </a:rPr>
              <a:t>Required part unavailable → alternate warehouse identified.</a:t>
            </a:r>
          </a:p>
        </p:txBody>
      </p:sp>
      <p:sp>
        <p:nvSpPr>
          <p:cNvPr id="34" name="Step Arrow 5"/>
          <p:cNvSpPr txBox="1"/>
          <p:nvPr/>
        </p:nvSpPr>
        <p:spPr>
          <a:xfrm>
            <a:off x="9454896" y="2884932"/>
            <a:ext cx="23774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300" b="1">
                <a:solidFill>
                  <a:srgbClr val="FD1485"/>
                </a:solidFill>
                <a:latin typeface="Fjalla One"/>
              </a:defRPr>
            </a:pPr>
            <a:r>
              <a:rPr lang="en-US" sz="1300" b="1" dirty="0">
                <a:solidFill>
                  <a:srgbClr val="FD1485"/>
                </a:solidFill>
                <a:latin typeface="Fjalla One"/>
              </a:rPr>
              <a:t>➔</a:t>
            </a:r>
          </a:p>
        </p:txBody>
      </p:sp>
      <p:sp>
        <p:nvSpPr>
          <p:cNvPr id="35" name="Step 6"/>
          <p:cNvSpPr/>
          <p:nvPr/>
        </p:nvSpPr>
        <p:spPr>
          <a:xfrm>
            <a:off x="9692640" y="2359152"/>
            <a:ext cx="13716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73152" rIns="64008" rtlCol="0" anchor="t"/>
          <a:lstStyle/>
          <a:p>
            <a:pPr algn="ctr">
              <a:defRPr sz="2000" b="1">
                <a:solidFill>
                  <a:srgbClr val="FD1485"/>
                </a:solidFill>
                <a:latin typeface="Fjalla One"/>
              </a:defRPr>
            </a:pPr>
            <a:r>
              <a:rPr lang="en-US" sz="2000" b="1" dirty="0">
                <a:solidFill>
                  <a:srgbClr val="FD1485"/>
                </a:solidFill>
                <a:latin typeface="Fjalla One"/>
              </a:rPr>
              <a:t>06</a:t>
            </a:r>
          </a:p>
          <a:p>
            <a:pPr algn="ctr">
              <a:spcBef>
                <a:spcPts val="100"/>
              </a:spcBef>
              <a:defRPr sz="1000" b="1">
                <a:solidFill>
                  <a:srgbClr val="353334"/>
                </a:solidFill>
                <a:latin typeface="Fjalla One"/>
              </a:defRPr>
            </a:pPr>
            <a:r>
              <a:rPr lang="en-US" sz="1000" b="1" dirty="0">
                <a:solidFill>
                  <a:srgbClr val="353334"/>
                </a:solidFill>
                <a:latin typeface="Fjalla One"/>
              </a:rPr>
              <a:t>APPROVE</a:t>
            </a:r>
          </a:p>
          <a:p>
            <a:pPr algn="ctr">
              <a:spcBef>
                <a:spcPts val="3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dirty="0">
                <a:solidFill>
                  <a:srgbClr val="3C3C41"/>
                </a:solidFill>
                <a:latin typeface="Mulish"/>
              </a:rPr>
              <a:t>Manager reviews and approves the plan.</a:t>
            </a:r>
          </a:p>
        </p:txBody>
      </p:sp>
      <p:sp>
        <p:nvSpPr>
          <p:cNvPr id="36" name="Step 7"/>
          <p:cNvSpPr/>
          <p:nvPr/>
        </p:nvSpPr>
        <p:spPr>
          <a:xfrm>
            <a:off x="1645920" y="3977640"/>
            <a:ext cx="13716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79E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73152" rIns="64008" rtlCol="0" anchor="t"/>
          <a:lstStyle/>
          <a:p>
            <a:pPr algn="ctr">
              <a:defRPr sz="2000" b="1">
                <a:solidFill>
                  <a:srgbClr val="079ED2"/>
                </a:solidFill>
                <a:latin typeface="Fjalla One"/>
              </a:defRPr>
            </a:pPr>
            <a:r>
              <a:rPr lang="en-US" sz="2000" b="1" dirty="0">
                <a:solidFill>
                  <a:srgbClr val="079ED2"/>
                </a:solidFill>
                <a:latin typeface="Fjalla One"/>
              </a:rPr>
              <a:t>07</a:t>
            </a:r>
          </a:p>
          <a:p>
            <a:pPr algn="ctr">
              <a:spcBef>
                <a:spcPts val="100"/>
              </a:spcBef>
              <a:defRPr sz="1000" b="1">
                <a:solidFill>
                  <a:srgbClr val="353334"/>
                </a:solidFill>
                <a:latin typeface="Fjalla One"/>
              </a:defRPr>
            </a:pPr>
            <a:r>
              <a:rPr lang="en-US" sz="1000" b="1" dirty="0">
                <a:solidFill>
                  <a:srgbClr val="353334"/>
                </a:solidFill>
                <a:latin typeface="Fjalla One"/>
              </a:rPr>
              <a:t>DISPATCH</a:t>
            </a:r>
          </a:p>
          <a:p>
            <a:pPr algn="ctr">
              <a:spcBef>
                <a:spcPts val="3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dirty="0">
                <a:solidFill>
                  <a:srgbClr val="3C3C41"/>
                </a:solidFill>
                <a:latin typeface="Mulish"/>
              </a:rPr>
              <a:t>Technician receives the assignment.</a:t>
            </a:r>
          </a:p>
        </p:txBody>
      </p:sp>
      <p:sp>
        <p:nvSpPr>
          <p:cNvPr id="37" name="Step Arrow 7"/>
          <p:cNvSpPr txBox="1"/>
          <p:nvPr/>
        </p:nvSpPr>
        <p:spPr>
          <a:xfrm>
            <a:off x="3017520" y="4503420"/>
            <a:ext cx="23774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300" b="1">
                <a:solidFill>
                  <a:srgbClr val="FD1485"/>
                </a:solidFill>
                <a:latin typeface="Fjalla One"/>
              </a:defRPr>
            </a:pPr>
            <a:r>
              <a:rPr lang="en-US" sz="1300" b="1" dirty="0">
                <a:solidFill>
                  <a:srgbClr val="FD1485"/>
                </a:solidFill>
                <a:latin typeface="Fjalla One"/>
              </a:rPr>
              <a:t>➔</a:t>
            </a:r>
          </a:p>
        </p:txBody>
      </p:sp>
      <p:sp>
        <p:nvSpPr>
          <p:cNvPr id="38" name="Step 8"/>
          <p:cNvSpPr/>
          <p:nvPr/>
        </p:nvSpPr>
        <p:spPr>
          <a:xfrm>
            <a:off x="3255264" y="3977640"/>
            <a:ext cx="13716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FB9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73152" rIns="64008" rtlCol="0" anchor="t"/>
          <a:lstStyle/>
          <a:p>
            <a:pPr algn="ctr">
              <a:defRPr sz="2000" b="1">
                <a:solidFill>
                  <a:srgbClr val="E0A000"/>
                </a:solidFill>
                <a:latin typeface="Fjalla One"/>
              </a:defRPr>
            </a:pPr>
            <a:r>
              <a:rPr lang="en-US" sz="2000" b="1" dirty="0">
                <a:solidFill>
                  <a:srgbClr val="E0A000"/>
                </a:solidFill>
                <a:latin typeface="Fjalla One"/>
              </a:rPr>
              <a:t>08</a:t>
            </a:r>
          </a:p>
          <a:p>
            <a:pPr algn="ctr">
              <a:spcBef>
                <a:spcPts val="100"/>
              </a:spcBef>
              <a:defRPr sz="1000" b="1">
                <a:solidFill>
                  <a:srgbClr val="353334"/>
                </a:solidFill>
                <a:latin typeface="Fjalla One"/>
              </a:defRPr>
            </a:pPr>
            <a:r>
              <a:rPr lang="en-US" sz="1000" b="1" dirty="0">
                <a:solidFill>
                  <a:srgbClr val="353334"/>
                </a:solidFill>
                <a:latin typeface="Fjalla One"/>
              </a:rPr>
              <a:t>EXCEPTION</a:t>
            </a:r>
          </a:p>
          <a:p>
            <a:pPr algn="ctr">
              <a:spcBef>
                <a:spcPts val="3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dirty="0">
                <a:solidFill>
                  <a:srgbClr val="3C3C41"/>
                </a:solidFill>
                <a:latin typeface="Mulish"/>
              </a:rPr>
              <a:t>Assigned technician becomes unavailable.</a:t>
            </a:r>
          </a:p>
        </p:txBody>
      </p:sp>
      <p:sp>
        <p:nvSpPr>
          <p:cNvPr id="39" name="Step Arrow 8"/>
          <p:cNvSpPr txBox="1"/>
          <p:nvPr/>
        </p:nvSpPr>
        <p:spPr>
          <a:xfrm>
            <a:off x="4626864" y="4503420"/>
            <a:ext cx="23774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300" b="1">
                <a:solidFill>
                  <a:srgbClr val="FD1485"/>
                </a:solidFill>
                <a:latin typeface="Fjalla One"/>
              </a:defRPr>
            </a:pPr>
            <a:r>
              <a:rPr lang="en-US" sz="1300" b="1" dirty="0">
                <a:solidFill>
                  <a:srgbClr val="FD1485"/>
                </a:solidFill>
                <a:latin typeface="Fjalla One"/>
              </a:rPr>
              <a:t>➔</a:t>
            </a:r>
          </a:p>
        </p:txBody>
      </p:sp>
      <p:sp>
        <p:nvSpPr>
          <p:cNvPr id="40" name="Step 9"/>
          <p:cNvSpPr/>
          <p:nvPr/>
        </p:nvSpPr>
        <p:spPr>
          <a:xfrm>
            <a:off x="4864608" y="3977640"/>
            <a:ext cx="13716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73152" rIns="64008" rtlCol="0" anchor="t"/>
          <a:lstStyle/>
          <a:p>
            <a:pPr algn="ctr">
              <a:defRPr sz="2000" b="1">
                <a:solidFill>
                  <a:srgbClr val="FD1485"/>
                </a:solidFill>
                <a:latin typeface="Fjalla One"/>
              </a:defRPr>
            </a:pPr>
            <a:r>
              <a:rPr lang="en-US" sz="2000" b="1" dirty="0">
                <a:solidFill>
                  <a:srgbClr val="FD1485"/>
                </a:solidFill>
                <a:latin typeface="Fjalla One"/>
              </a:rPr>
              <a:t>09</a:t>
            </a:r>
          </a:p>
          <a:p>
            <a:pPr algn="ctr">
              <a:spcBef>
                <a:spcPts val="100"/>
              </a:spcBef>
              <a:defRPr sz="1000" b="1">
                <a:solidFill>
                  <a:srgbClr val="353334"/>
                </a:solidFill>
                <a:latin typeface="Fjalla One"/>
              </a:defRPr>
            </a:pPr>
            <a:r>
              <a:rPr lang="en-US" sz="1000" b="1" dirty="0">
                <a:solidFill>
                  <a:srgbClr val="353334"/>
                </a:solidFill>
                <a:latin typeface="Fjalla One"/>
              </a:rPr>
              <a:t>REASSIGN</a:t>
            </a:r>
          </a:p>
          <a:p>
            <a:pPr algn="ctr">
              <a:spcBef>
                <a:spcPts val="3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dirty="0">
                <a:solidFill>
                  <a:srgbClr val="3C3C41"/>
                </a:solidFill>
                <a:latin typeface="Mulish"/>
              </a:rPr>
              <a:t>System detects the exception and recommends a replacement technician.</a:t>
            </a:r>
          </a:p>
        </p:txBody>
      </p:sp>
      <p:sp>
        <p:nvSpPr>
          <p:cNvPr id="41" name="Step Arrow 9"/>
          <p:cNvSpPr txBox="1"/>
          <p:nvPr/>
        </p:nvSpPr>
        <p:spPr>
          <a:xfrm>
            <a:off x="6236208" y="4503420"/>
            <a:ext cx="23774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300" b="1">
                <a:solidFill>
                  <a:srgbClr val="FD1485"/>
                </a:solidFill>
                <a:latin typeface="Fjalla One"/>
              </a:defRPr>
            </a:pPr>
            <a:r>
              <a:rPr lang="en-US" sz="1300" b="1" dirty="0">
                <a:solidFill>
                  <a:srgbClr val="FD1485"/>
                </a:solidFill>
                <a:latin typeface="Fjalla One"/>
              </a:rPr>
              <a:t>➔</a:t>
            </a:r>
          </a:p>
        </p:txBody>
      </p:sp>
      <p:sp>
        <p:nvSpPr>
          <p:cNvPr id="42" name="Step 10"/>
          <p:cNvSpPr/>
          <p:nvPr/>
        </p:nvSpPr>
        <p:spPr>
          <a:xfrm>
            <a:off x="6473952" y="3977640"/>
            <a:ext cx="13716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79E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73152" rIns="64008" rtlCol="0" anchor="t"/>
          <a:lstStyle/>
          <a:p>
            <a:pPr algn="ctr">
              <a:defRPr sz="2000" b="1">
                <a:solidFill>
                  <a:srgbClr val="079ED2"/>
                </a:solidFill>
                <a:latin typeface="Fjalla One"/>
              </a:defRPr>
            </a:pPr>
            <a:r>
              <a:rPr lang="en-US" sz="2000" b="1" dirty="0">
                <a:solidFill>
                  <a:srgbClr val="079ED2"/>
                </a:solidFill>
                <a:latin typeface="Fjalla One"/>
              </a:rPr>
              <a:t>10</a:t>
            </a:r>
          </a:p>
          <a:p>
            <a:pPr algn="ctr">
              <a:spcBef>
                <a:spcPts val="100"/>
              </a:spcBef>
              <a:defRPr sz="1000" b="1">
                <a:solidFill>
                  <a:srgbClr val="353334"/>
                </a:solidFill>
                <a:latin typeface="Fjalla One"/>
              </a:defRPr>
            </a:pPr>
            <a:r>
              <a:rPr lang="en-US" sz="1000" b="1" dirty="0">
                <a:solidFill>
                  <a:srgbClr val="353334"/>
                </a:solidFill>
                <a:latin typeface="Fjalla One"/>
              </a:rPr>
              <a:t>EXECUTE</a:t>
            </a:r>
          </a:p>
          <a:p>
            <a:pPr algn="ctr">
              <a:spcBef>
                <a:spcPts val="3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dirty="0">
                <a:solidFill>
                  <a:srgbClr val="3C3C41"/>
                </a:solidFill>
                <a:latin typeface="Mulish"/>
              </a:rPr>
              <a:t>Replacement technician completes the work, checklist and evidence.</a:t>
            </a:r>
          </a:p>
        </p:txBody>
      </p:sp>
      <p:sp>
        <p:nvSpPr>
          <p:cNvPr id="43" name="Step Arrow 10"/>
          <p:cNvSpPr txBox="1"/>
          <p:nvPr/>
        </p:nvSpPr>
        <p:spPr>
          <a:xfrm>
            <a:off x="7845552" y="4503420"/>
            <a:ext cx="23774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300" b="1">
                <a:solidFill>
                  <a:srgbClr val="FD1485"/>
                </a:solidFill>
                <a:latin typeface="Fjalla One"/>
              </a:defRPr>
            </a:pPr>
            <a:r>
              <a:rPr lang="en-US" sz="1300" b="1" dirty="0">
                <a:solidFill>
                  <a:srgbClr val="FD1485"/>
                </a:solidFill>
                <a:latin typeface="Fjalla One"/>
              </a:rPr>
              <a:t>➔</a:t>
            </a:r>
          </a:p>
        </p:txBody>
      </p:sp>
      <p:sp>
        <p:nvSpPr>
          <p:cNvPr id="44" name="Step 11"/>
          <p:cNvSpPr/>
          <p:nvPr/>
        </p:nvSpPr>
        <p:spPr>
          <a:xfrm>
            <a:off x="8083296" y="3977640"/>
            <a:ext cx="13716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FB9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73152" rIns="64008" rtlCol="0" anchor="t"/>
          <a:lstStyle/>
          <a:p>
            <a:pPr algn="ctr">
              <a:defRPr sz="2000" b="1">
                <a:solidFill>
                  <a:srgbClr val="E0A000"/>
                </a:solidFill>
                <a:latin typeface="Fjalla One"/>
              </a:defRPr>
            </a:pPr>
            <a:r>
              <a:rPr lang="en-US" sz="2000" b="1" dirty="0">
                <a:solidFill>
                  <a:srgbClr val="E0A000"/>
                </a:solidFill>
                <a:latin typeface="Fjalla One"/>
              </a:rPr>
              <a:t>11</a:t>
            </a:r>
          </a:p>
          <a:p>
            <a:pPr algn="ctr">
              <a:spcBef>
                <a:spcPts val="100"/>
              </a:spcBef>
              <a:defRPr sz="1000" b="1">
                <a:solidFill>
                  <a:srgbClr val="353334"/>
                </a:solidFill>
                <a:latin typeface="Fjalla One"/>
              </a:defRPr>
            </a:pPr>
            <a:r>
              <a:rPr lang="en-US" sz="1000" b="1" dirty="0">
                <a:solidFill>
                  <a:srgbClr val="353334"/>
                </a:solidFill>
                <a:latin typeface="Fjalla One"/>
              </a:rPr>
              <a:t>VERIFY</a:t>
            </a:r>
          </a:p>
          <a:p>
            <a:pPr algn="ctr">
              <a:spcBef>
                <a:spcPts val="3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dirty="0">
                <a:solidFill>
                  <a:srgbClr val="3C3C41"/>
                </a:solidFill>
                <a:latin typeface="Mulish"/>
              </a:rPr>
              <a:t>Completion is verified and approved.</a:t>
            </a:r>
          </a:p>
        </p:txBody>
      </p:sp>
      <p:sp>
        <p:nvSpPr>
          <p:cNvPr id="45" name="Step Arrow 11"/>
          <p:cNvSpPr txBox="1"/>
          <p:nvPr/>
        </p:nvSpPr>
        <p:spPr>
          <a:xfrm>
            <a:off x="9454896" y="4503420"/>
            <a:ext cx="237744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300" b="1">
                <a:solidFill>
                  <a:srgbClr val="FD1485"/>
                </a:solidFill>
                <a:latin typeface="Fjalla One"/>
              </a:defRPr>
            </a:pPr>
            <a:r>
              <a:rPr lang="en-US" sz="1300" b="1" dirty="0">
                <a:solidFill>
                  <a:srgbClr val="FD1485"/>
                </a:solidFill>
                <a:latin typeface="Fjalla One"/>
              </a:rPr>
              <a:t>➔</a:t>
            </a:r>
          </a:p>
        </p:txBody>
      </p:sp>
      <p:sp>
        <p:nvSpPr>
          <p:cNvPr id="46" name="Step 12"/>
          <p:cNvSpPr/>
          <p:nvPr/>
        </p:nvSpPr>
        <p:spPr>
          <a:xfrm>
            <a:off x="9692640" y="3977640"/>
            <a:ext cx="13716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73152" rIns="64008" rtlCol="0" anchor="t"/>
          <a:lstStyle/>
          <a:p>
            <a:pPr algn="ctr">
              <a:defRPr sz="2000" b="1">
                <a:solidFill>
                  <a:srgbClr val="FD1485"/>
                </a:solidFill>
                <a:latin typeface="Fjalla One"/>
              </a:defRPr>
            </a:pPr>
            <a:r>
              <a:rPr lang="en-US" sz="2000" b="1" dirty="0">
                <a:solidFill>
                  <a:srgbClr val="FD1485"/>
                </a:solidFill>
                <a:latin typeface="Fjalla One"/>
              </a:rPr>
              <a:t>12</a:t>
            </a:r>
          </a:p>
          <a:p>
            <a:pPr algn="ctr">
              <a:spcBef>
                <a:spcPts val="100"/>
              </a:spcBef>
              <a:defRPr sz="1000" b="1">
                <a:solidFill>
                  <a:srgbClr val="353334"/>
                </a:solidFill>
                <a:latin typeface="Fjalla One"/>
              </a:defRPr>
            </a:pPr>
            <a:r>
              <a:rPr lang="en-US" sz="1000" b="1" dirty="0">
                <a:solidFill>
                  <a:srgbClr val="353334"/>
                </a:solidFill>
                <a:latin typeface="Fjalla One"/>
              </a:rPr>
              <a:t>MACHINE PASSPORT</a:t>
            </a:r>
          </a:p>
          <a:p>
            <a:pPr algn="ctr">
              <a:spcBef>
                <a:spcPts val="300"/>
              </a:spcBef>
              <a:defRPr sz="900">
                <a:solidFill>
                  <a:srgbClr val="3C3C41"/>
                </a:solidFill>
                <a:latin typeface="Mulish"/>
              </a:defRPr>
            </a:pPr>
            <a:r>
              <a:rPr lang="en-US" sz="900" dirty="0">
                <a:solidFill>
                  <a:srgbClr val="3C3C41"/>
                </a:solidFill>
                <a:latin typeface="Mulish"/>
              </a:rPr>
              <a:t>Service history is permanently updated.</a:t>
            </a:r>
          </a:p>
        </p:txBody>
      </p:sp>
      <p:sp>
        <p:nvSpPr>
          <p:cNvPr id="47" name="Final Callout"/>
          <p:cNvSpPr/>
          <p:nvPr/>
        </p:nvSpPr>
        <p:spPr>
          <a:xfrm>
            <a:off x="1645920" y="5623560"/>
            <a:ext cx="941832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D14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rtlCol="0" anchor="ctr"/>
          <a:lstStyle/>
          <a:p>
            <a:pPr algn="ctr">
              <a:defRPr sz="1400" b="1">
                <a:solidFill>
                  <a:srgbClr val="353334"/>
                </a:solidFill>
                <a:latin typeface="Fjalla One"/>
              </a:defRPr>
            </a:pPr>
            <a:r>
              <a:rPr lang="en-US" sz="1400" b="1" dirty="0">
                <a:solidFill>
                  <a:srgbClr val="353334"/>
                </a:solidFill>
                <a:latin typeface="Fjalla One"/>
              </a:rPr>
              <a:t>One request. One governed workflow. Dynamic recovery from failure to verified closure.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1502</Words>
  <Application>Microsoft Office PowerPoint</Application>
  <PresentationFormat>Widescreen</PresentationFormat>
  <Paragraphs>248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Fjalla One</vt:lpstr>
      <vt:lpstr>Mulish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nishanth p</cp:lastModifiedBy>
  <cp:revision>9</cp:revision>
  <dcterms:created xsi:type="dcterms:W3CDTF">2013-01-27T09:14:16Z</dcterms:created>
  <dcterms:modified xsi:type="dcterms:W3CDTF">2026-10-07T08:49:42Z</dcterms:modified>
  <cp:category/>
</cp:coreProperties>
</file>