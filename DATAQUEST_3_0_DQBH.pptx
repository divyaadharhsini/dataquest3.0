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51ECC6-2D4B-BA92-B282-4E3DA8165BC6}" name="RISHIT BISOYI" initials="RB" userId="S::rishit.bisoyi2025@vitstudent.ac.in::cd4f7ff7-75e1-49f2-a276-375c6c1478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2C0BEE-8EA0-ABCF-A62F-2B9F40FC6642}" v="1" dt="2026-10-06T20:26:11.604"/>
    <p1510:client id="{8792CA87-CA5F-61F4-2F34-29E534A3DBAA}" v="7" dt="2026-10-07T05:50:44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88531-0810-49A5-A43A-AC37517BACE6}" authorId="{4F51ECC6-2D4B-BA92-B282-4E3DA8165BC6}" created="2026-10-06T20:26:11.604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Go to File-&gt;Create a copy-&gt;Download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2194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2596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2999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9601200" y="640080"/>
            <a:ext cx="109728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6005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5733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c 19"/>
          <p:cNvSpPr/>
          <p:nvPr/>
        </p:nvSpPr>
        <p:spPr>
          <a:xfrm>
            <a:off x="1463040" y="5303520"/>
            <a:ext cx="1005840" cy="73152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21892" y="56281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7732" y="526237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645920" y="758952"/>
            <a:ext cx="219456" cy="256032"/>
          </a:xfrm>
          <a:prstGeom prst="triangle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73352" y="685800"/>
            <a:ext cx="164592" cy="91440"/>
          </a:xfrm>
          <a:prstGeom prst="roundRect">
            <a:avLst>
              <a:gd name="adj" fmla="val 20000"/>
            </a:avLst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32788" y="822960"/>
            <a:ext cx="45720" cy="45720"/>
          </a:xfrm>
          <a:prstGeom prst="ellipse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51076" y="868680"/>
            <a:ext cx="19050" cy="13716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45920" y="1078992"/>
            <a:ext cx="9144000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5600" b="1">
                <a:solidFill>
                  <a:srgbClr val="353334"/>
                </a:solidFill>
                <a:latin typeface="Fjalla One"/>
              </a:defRPr>
            </a:pPr>
            <a:r>
              <a:t>DATAQUEST 3.0</a:t>
            </a:r>
          </a:p>
          <a:p>
            <a:pPr>
              <a:spcBef>
                <a:spcPts val="200"/>
              </a:spcBef>
              <a:defRPr sz="3200" b="1">
                <a:solidFill>
                  <a:srgbClr val="FD1485"/>
                </a:solidFill>
                <a:latin typeface="Fjalla One"/>
              </a:defRPr>
            </a:pPr>
            <a:r>
              <a:t>ROUND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2578608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2670048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Mulish"/>
              </a:defRPr>
            </a:pPr>
            <a:r>
              <a:t>OFFICIAL PARTICIPANT PPT TEMPLATE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PROJECT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520440"/>
            <a:ext cx="402336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PROJECT TITLE</a:t>
            </a:r>
          </a:p>
          <a:p>
            <a:pPr>
              <a:spcBef>
                <a:spcPts val="200"/>
              </a:spcBef>
              <a:defRPr sz="1600" b="1">
                <a:solidFill>
                  <a:srgbClr val="FD1485"/>
                </a:solidFill>
                <a:latin typeface="Fjalla One"/>
              </a:defRPr>
            </a:pPr>
            <a:r>
              <a:rPr lang="en-US" sz="1600" b="1">
                <a:solidFill>
                  <a:srgbClr val="FD1485"/>
                </a:solidFill>
                <a:latin typeface="Fjalla One"/>
              </a:rPr>
              <a:t>MIRTOS-Maintenance </a:t>
            </a:r>
            <a:r>
              <a:rPr lang="en-US" sz="1600" b="1" dirty="0">
                <a:solidFill>
                  <a:srgbClr val="FD1485"/>
                </a:solidFill>
                <a:latin typeface="Fjalla One"/>
              </a:rPr>
              <a:t>Intelligence And Resilient Task Orchestration System</a:t>
            </a:r>
          </a:p>
          <a:p>
            <a:pPr>
              <a:spcBef>
                <a:spcPts val="1000"/>
              </a:spcBef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ONE-LINE PITCH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US" sz="1050" dirty="0">
                <a:solidFill>
                  <a:srgbClr val="3C3C41"/>
                </a:solidFill>
                <a:latin typeface="Mulish"/>
              </a:rPr>
              <a:t>Intelligent service orchestration that validates maintenance requests, matches technicians and resources, handles exceptions dynamically, and builds a complete digital service history.</a:t>
            </a:r>
          </a:p>
          <a:p>
            <a:pPr>
              <a:spcBef>
                <a:spcPts val="1000"/>
              </a:spcBef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TRACK</a:t>
            </a:r>
          </a:p>
          <a:p>
            <a:pPr>
              <a:spcBef>
                <a:spcPts val="200"/>
              </a:spcBef>
              <a:defRPr sz="1050" b="1">
                <a:solidFill>
                  <a:srgbClr val="079ED2"/>
                </a:solidFill>
                <a:latin typeface="Mulish"/>
              </a:defRPr>
            </a:pPr>
            <a:r>
              <a:rPr lang="en-US" sz="1050" b="1" dirty="0">
                <a:solidFill>
                  <a:srgbClr val="079ED2"/>
                </a:solidFill>
                <a:latin typeface="Mulish"/>
              </a:rPr>
              <a:t>DQBH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TEAM &amp;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52044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TEAM</a:t>
            </a:r>
          </a:p>
          <a:p>
            <a:pPr>
              <a:spcBef>
                <a:spcPts val="200"/>
              </a:spcBef>
              <a:defRPr sz="1600" b="1">
                <a:solidFill>
                  <a:srgbClr val="353334"/>
                </a:solidFill>
                <a:latin typeface="Fjalla One"/>
              </a:defRPr>
            </a:pPr>
            <a:r>
              <a:rPr lang="en-US" sz="1600" b="1" dirty="0">
                <a:solidFill>
                  <a:srgbClr val="353334"/>
                </a:solidFill>
                <a:latin typeface="Fjalla One"/>
              </a:rPr>
              <a:t>SINISTER</a:t>
            </a:r>
          </a:p>
          <a:p>
            <a:pPr>
              <a:spcBef>
                <a:spcPts val="1000"/>
              </a:spcBef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PARTICIPANTS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US" sz="1050" dirty="0">
                <a:solidFill>
                  <a:srgbClr val="3C3C41"/>
                </a:solidFill>
                <a:latin typeface="Mulish"/>
              </a:rPr>
              <a:t>•  Nishanth P — 24BCE1078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US" sz="1050" dirty="0">
                <a:solidFill>
                  <a:srgbClr val="3C3C41"/>
                </a:solidFill>
                <a:latin typeface="Mulish"/>
              </a:rPr>
              <a:t>•  Divyaa Dharshini T — 24BCE5516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US" sz="1050" dirty="0">
                <a:solidFill>
                  <a:srgbClr val="3C3C41"/>
                </a:solidFill>
                <a:latin typeface="Mulish"/>
              </a:rPr>
              <a:t>•  Varsha S — 24BCE1127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US" sz="1050" dirty="0">
                <a:solidFill>
                  <a:srgbClr val="3C3C41"/>
                </a:solidFill>
                <a:latin typeface="Mulish"/>
              </a:rPr>
              <a:t>•  Prasanna K — 24BCE1024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US" sz="1050" dirty="0">
                <a:solidFill>
                  <a:srgbClr val="3C3C41"/>
                </a:solidFill>
                <a:latin typeface="Mulish"/>
              </a:rPr>
              <a:t>•  Tharun S — 24BEC1074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02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Problem Definition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Who is impacted · Today's workarounds · Why current methods fail · Concrete proof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01 · AUDIENCE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3134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lang="en-US" sz="1300" b="1" dirty="0">
                <a:solidFill>
                  <a:srgbClr val="353334"/>
                </a:solidFill>
                <a:latin typeface="Fjalla One"/>
              </a:rPr>
              <a:t>WHO &amp; HOW OFTEN</a:t>
            </a:r>
          </a:p>
          <a:p>
            <a:pPr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Industrial equipment operators, service managers, field technicians and inventory teams managing equipment across multiple sites.</a:t>
            </a:r>
          </a:p>
          <a:p>
            <a:pPr>
              <a:spcBef>
                <a:spcPts val="6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Maintenance events occur through </a:t>
            </a:r>
            <a:r>
              <a:rPr lang="en-US" sz="1000" b="1" dirty="0">
                <a:solidFill>
                  <a:srgbClr val="3C3C41"/>
                </a:solidFill>
                <a:latin typeface="Mulish"/>
              </a:rPr>
              <a:t>periodic, reactive and predictive</a:t>
            </a:r>
            <a:r>
              <a:rPr lang="en-US" sz="1000" dirty="0">
                <a:solidFill>
                  <a:srgbClr val="3C3C41"/>
                </a:solidFill>
                <a:latin typeface="Mulish"/>
              </a:rPr>
              <a:t> workflows, requiring continuous coordination between people, machines, parts and locations.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02 · STATUS QUO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134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lang="en-US" sz="1300" b="1" dirty="0">
                <a:solidFill>
                  <a:srgbClr val="353334"/>
                </a:solidFill>
                <a:latin typeface="Fjalla One"/>
              </a:rPr>
              <a:t>CURRENT APPROACH</a:t>
            </a:r>
          </a:p>
          <a:p>
            <a:pPr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Maintenance requests, technician assignment, spare-part checks, approvals, dispatch and service history are often handled through fragmented workflows.</a:t>
            </a:r>
          </a:p>
          <a:p>
            <a:pPr>
              <a:spcBef>
                <a:spcPts val="6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Teams manually coordinate technicians, resources, inventory and exceptions across different operational systems.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03 · DEFICIENCY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64515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lang="en-US" sz="1300" b="1" dirty="0">
                <a:solidFill>
                  <a:srgbClr val="353334"/>
                </a:solidFill>
                <a:latin typeface="Fjalla One"/>
              </a:rPr>
              <a:t>WHY IT FALLS SHORT</a:t>
            </a:r>
          </a:p>
          <a:p>
            <a:pPr marL="171450" indent="-171450">
              <a:spcBef>
                <a:spcPts val="300"/>
              </a:spcBef>
              <a:buClr>
                <a:srgbClr val="FD1485"/>
              </a:buClr>
              <a:buFont typeface="Arial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Slow, manual technician assignment</a:t>
            </a:r>
          </a:p>
          <a:p>
            <a:pPr marL="171450" indent="-171450">
              <a:spcBef>
                <a:spcPts val="300"/>
              </a:spcBef>
              <a:buClr>
                <a:srgbClr val="FD1485"/>
              </a:buClr>
              <a:buFont typeface="Arial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Limited technician/resource visibility</a:t>
            </a:r>
          </a:p>
          <a:p>
            <a:pPr marL="171450" indent="-171450">
              <a:spcBef>
                <a:spcPts val="300"/>
              </a:spcBef>
              <a:buClr>
                <a:srgbClr val="FD1485"/>
              </a:buClr>
              <a:buFont typeface="Arial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Spare-part shortages disrupt jobs</a:t>
            </a:r>
          </a:p>
          <a:p>
            <a:pPr marL="171450" indent="-171450">
              <a:spcBef>
                <a:spcPts val="300"/>
              </a:spcBef>
              <a:buClr>
                <a:srgbClr val="FD1485"/>
              </a:buClr>
              <a:buFont typeface="Arial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Technician unavailability causes delays</a:t>
            </a:r>
          </a:p>
          <a:p>
            <a:pPr marL="171450" indent="-171450">
              <a:spcBef>
                <a:spcPts val="300"/>
              </a:spcBef>
              <a:buClr>
                <a:srgbClr val="FD1485"/>
              </a:buClr>
              <a:buFont typeface="Arial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SLA risks are detected too late</a:t>
            </a:r>
          </a:p>
          <a:p>
            <a:pPr marL="171450" indent="-171450">
              <a:spcBef>
                <a:spcPts val="300"/>
              </a:spcBef>
              <a:buClr>
                <a:srgbClr val="FD1485"/>
              </a:buClr>
              <a:buFont typeface="Arial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Exceptions require manual coordination</a:t>
            </a:r>
          </a:p>
          <a:p>
            <a:pPr marL="171450" indent="-171450">
              <a:spcBef>
                <a:spcPts val="300"/>
              </a:spcBef>
              <a:buClr>
                <a:srgbClr val="FD1485"/>
              </a:buClr>
              <a:buFont typeface="Arial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Service history remains fragmented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04 ·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4515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lang="en-US" sz="1300" b="1" dirty="0">
                <a:solidFill>
                  <a:srgbClr val="353334"/>
                </a:solidFill>
                <a:latin typeface="Fjalla One"/>
              </a:rPr>
              <a:t>EVIDENCE</a:t>
            </a:r>
          </a:p>
          <a:p>
            <a:pPr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The DATAQUEST problem requires validation of: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b="1" dirty="0">
                <a:solidFill>
                  <a:srgbClr val="FD1485"/>
                </a:solidFill>
                <a:latin typeface="Mulish"/>
              </a:rPr>
              <a:t>equipment eligibility + priority + location + technician skills + availability + spare parts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along with dynamic assignment, exception handling, SLA awareness and centralized visibility.</a:t>
            </a:r>
          </a:p>
          <a:p>
            <a:pPr>
              <a:spcBef>
                <a:spcPts val="500"/>
              </a:spcBef>
              <a:defRPr sz="900" i="1">
                <a:solidFill>
                  <a:srgbClr val="6E6E73"/>
                </a:solidFill>
                <a:latin typeface="Mulish"/>
              </a:defRPr>
            </a:pPr>
            <a:r>
              <a:rPr lang="en-US" sz="900" i="1" dirty="0">
                <a:solidFill>
                  <a:srgbClr val="6E6E73"/>
                </a:solidFill>
                <a:latin typeface="Mulish"/>
              </a:rPr>
              <a:t>Validation basis: Official DATAQUEST 3.0 problem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03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Proposed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System identity · End-to-end user workflow · Competitive advantages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SOLUTION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19456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3334"/>
                </a:solidFill>
                <a:latin typeface="Fjalla One"/>
              </a:defRPr>
            </a:pPr>
            <a:r>
              <a:rPr lang="en-US" sz="1600" b="1" dirty="0">
                <a:solidFill>
                  <a:srgbClr val="353334"/>
                </a:solidFill>
                <a:latin typeface="Fjalla One"/>
              </a:rPr>
              <a:t>DQBH — Intelligent Industrial Equipment Service Orchestration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DQBH converts maintenance events into governed work orders and orchestrates the complete lifecycle, from </a:t>
            </a:r>
            <a:r>
              <a:rPr lang="en-US" sz="1000" b="1" dirty="0">
                <a:solidFill>
                  <a:srgbClr val="3C3C41"/>
                </a:solidFill>
                <a:latin typeface="Mulish"/>
              </a:rPr>
              <a:t>AI-assisted understanding and deterministic validation</a:t>
            </a:r>
            <a:r>
              <a:rPr lang="en-US" sz="1000" dirty="0">
                <a:solidFill>
                  <a:srgbClr val="3C3C41"/>
                </a:solidFill>
                <a:latin typeface="Mulish"/>
              </a:rPr>
              <a:t> to resource matching, execution, exception recovery, verification and service history.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3383280"/>
            <a:ext cx="94183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65960" y="32552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USER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739896"/>
            <a:ext cx="25603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1. USER INPUT</a:t>
            </a:r>
          </a:p>
          <a:p>
            <a:pPr algn="ctr">
              <a:defRPr sz="850">
                <a:solidFill>
                  <a:srgbClr val="3C3C41"/>
                </a:solidFill>
                <a:latin typeface="Mulish"/>
              </a:defRPr>
            </a:pPr>
            <a:r>
              <a:rPr lang="en-US" sz="850" dirty="0">
                <a:solidFill>
                  <a:srgbClr val="3C3C41"/>
                </a:solidFill>
                <a:latin typeface="Mulish"/>
              </a:rPr>
              <a:t>Machine + Issue + Location + Priority +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3959352"/>
            <a:ext cx="3291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353334"/>
                </a:solidFill>
                <a:latin typeface="Mulish"/>
              </a:defRPr>
            </a:pPr>
            <a:r>
              <a:t>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739896"/>
            <a:ext cx="25603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2. PROCESSING</a:t>
            </a:r>
          </a:p>
          <a:p>
            <a:pPr algn="ctr">
              <a:defRPr sz="850">
                <a:solidFill>
                  <a:srgbClr val="3C3C41"/>
                </a:solidFill>
                <a:latin typeface="Mulish"/>
              </a:defRPr>
            </a:pPr>
            <a:r>
              <a:rPr lang="en-US" sz="850" dirty="0">
                <a:solidFill>
                  <a:srgbClr val="3C3C41"/>
                </a:solidFill>
                <a:latin typeface="Mulish"/>
              </a:rPr>
              <a:t>AI Classification → Validation → SLA → Resource Planning → Technician Matching → Inventory → Approval → Dispatch → Execution → Exception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3959352"/>
            <a:ext cx="3291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353334"/>
                </a:solidFill>
                <a:latin typeface="Mulish"/>
              </a:defRPr>
            </a:pPr>
            <a:r>
              <a:t>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39896"/>
            <a:ext cx="25603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3. OUTPUT</a:t>
            </a:r>
          </a:p>
          <a:p>
            <a:pPr algn="ctr">
              <a:defRPr sz="850">
                <a:solidFill>
                  <a:srgbClr val="3C3C41"/>
                </a:solidFill>
                <a:latin typeface="Mulish"/>
              </a:defRPr>
            </a:pPr>
            <a:r>
              <a:rPr lang="en-US" sz="850" dirty="0">
                <a:solidFill>
                  <a:srgbClr val="3C3C41"/>
                </a:solidFill>
                <a:latin typeface="Mulish"/>
              </a:rPr>
              <a:t>Right Technician + Right Resources + Dynamic Recovery + Verified Completion + Digital Service History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4846320"/>
            <a:ext cx="457200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965960" y="47183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ADVANTAGE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074920"/>
            <a:ext cx="4023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lang="en-US" sz="1200" b="1" dirty="0">
                <a:solidFill>
                  <a:srgbClr val="353334"/>
                </a:solidFill>
                <a:latin typeface="Fjalla One"/>
              </a:rPr>
              <a:t>WHY IT IS BETTER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One workflow coordinates </a:t>
            </a:r>
            <a:r>
              <a:rPr lang="en-US" sz="1000" b="1" dirty="0">
                <a:solidFill>
                  <a:srgbClr val="3C3C41"/>
                </a:solidFill>
                <a:latin typeface="Mulish"/>
              </a:rPr>
              <a:t>people, machines, skills, location, SLA, parts, tools, approvals and execution</a:t>
            </a:r>
            <a:r>
              <a:rPr lang="en-US" sz="1000" dirty="0">
                <a:solidFill>
                  <a:srgbClr val="3C3C41"/>
                </a:solidFill>
                <a:latin typeface="Mulish"/>
              </a:rPr>
              <a:t> instead of treating maintenance as isolated tickets.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846320"/>
            <a:ext cx="457200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812280" y="47183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INNOVATION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074920"/>
            <a:ext cx="4023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lang="en-US" sz="1200" b="1" dirty="0">
                <a:solidFill>
                  <a:srgbClr val="353334"/>
                </a:solidFill>
                <a:latin typeface="Fjalla One"/>
              </a:rPr>
              <a:t>WHAT IS DIFFERENT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b="1" dirty="0">
                <a:solidFill>
                  <a:srgbClr val="FD1485"/>
                </a:solidFill>
                <a:latin typeface="Mulish"/>
              </a:rPr>
              <a:t>AI recommends. Deterministic services decide and execute.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Structured AI recommendations are validated against operational rules before assignments, reservations and workflow changes occur.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Exception detection + dynamic reassignment closes the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04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System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System diagram is the primary visual · Engineering decisions ·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SYSTEM DIAGRAM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2331720"/>
            <a:ext cx="8869680" cy="2148840"/>
          </a:xfrm>
          <a:prstGeom prst="roundRect">
            <a:avLst>
              <a:gd name="adj" fmla="val 3500"/>
            </a:avLst>
          </a:prstGeom>
          <a:solidFill>
            <a:srgbClr val="FFFFF1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645920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65960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TECH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93208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KEY TECHNICAL DECISION</a:t>
            </a:r>
          </a:p>
          <a:p>
            <a:pPr>
              <a:spcBef>
                <a:spcPts val="300"/>
              </a:spcBef>
              <a:defRPr sz="950" b="1">
                <a:solidFill>
                  <a:srgbClr val="FD1485"/>
                </a:solidFill>
                <a:latin typeface="Mulish"/>
              </a:defRPr>
            </a:pPr>
            <a:r>
              <a:rPr lang="en-US" sz="950" b="1" dirty="0">
                <a:solidFill>
                  <a:srgbClr val="FD1485"/>
                </a:solidFill>
                <a:latin typeface="Mulish"/>
              </a:rPr>
              <a:t>React + FastAPI + PostgreSQL</a:t>
            </a:r>
          </a:p>
          <a:p>
            <a:pPr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React/Vite for rapid modular UI, FastAPI for Python-native API and AI integration, and PostgreSQL for reliable transactional state across assignments, inventory and workflows.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64608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84648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TECH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5093208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HARDEST PART</a:t>
            </a:r>
          </a:p>
          <a:p>
            <a:pPr>
              <a:spcBef>
                <a:spcPts val="300"/>
              </a:spcBef>
              <a:defRPr sz="950" b="1">
                <a:solidFill>
                  <a:srgbClr val="FD1485"/>
                </a:solidFill>
                <a:latin typeface="Mulish"/>
              </a:defRPr>
            </a:pPr>
            <a:r>
              <a:rPr lang="en-US" sz="950" b="1" dirty="0">
                <a:solidFill>
                  <a:srgbClr val="FD1485"/>
                </a:solidFill>
                <a:latin typeface="Mulish"/>
              </a:rPr>
              <a:t>Dynamic Resource Orchestration</a:t>
            </a:r>
          </a:p>
          <a:p>
            <a:pPr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Matching weighs skills, availability, SLA, distance, familiarity, workload, performance and resources, and must recover when a technician drops out or a part becomes unavailable.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4892040"/>
            <a:ext cx="29718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03336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TECH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5093208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VALIDATION</a:t>
            </a:r>
          </a:p>
          <a:p>
            <a:pPr>
              <a:spcBef>
                <a:spcPts val="300"/>
              </a:spcBef>
              <a:defRPr sz="950" b="1">
                <a:solidFill>
                  <a:srgbClr val="FD1485"/>
                </a:solidFill>
                <a:latin typeface="Mulish"/>
              </a:defRPr>
            </a:pPr>
            <a:r>
              <a:rPr lang="en-US" sz="950" b="1" dirty="0">
                <a:solidFill>
                  <a:srgbClr val="FD1485"/>
                </a:solidFill>
                <a:latin typeface="Mulish"/>
              </a:rPr>
              <a:t>M-104 End-to-End Scenario</a:t>
            </a:r>
          </a:p>
          <a:p>
            <a:pPr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Vibration → AI classification → Validation → Technician ranking → Part shortage → Alternate warehouse → Approval → Dispatch → Dropout → Reassignment → Completion → Verification → Machine passport</a:t>
            </a:r>
          </a:p>
        </p:txBody>
      </p:sp>
      <p:sp>
        <p:nvSpPr>
          <p:cNvPr id="37" name="Arch Users"/>
          <p:cNvSpPr/>
          <p:nvPr/>
        </p:nvSpPr>
        <p:spPr>
          <a:xfrm>
            <a:off x="2148840" y="2395728"/>
            <a:ext cx="148132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353334"/>
                </a:solidFill>
                <a:latin typeface="Fjalla One"/>
              </a:defRPr>
            </a:pPr>
            <a:r>
              <a:rPr lang="en-US" sz="950" b="1" dirty="0">
                <a:solidFill>
                  <a:srgbClr val="353334"/>
                </a:solidFill>
                <a:latin typeface="Fjalla One"/>
              </a:rPr>
              <a:t>USERS</a:t>
            </a:r>
          </a:p>
          <a:p>
            <a:pPr algn="ctr">
              <a:spcBef>
                <a:spcPts val="10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Customer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Technician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Manager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Inventory Manager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Administrator</a:t>
            </a:r>
          </a:p>
        </p:txBody>
      </p:sp>
      <p:sp>
        <p:nvSpPr>
          <p:cNvPr id="38" name="Arch Arrow 1"/>
          <p:cNvSpPr txBox="1"/>
          <p:nvPr/>
        </p:nvSpPr>
        <p:spPr>
          <a:xfrm>
            <a:off x="3630168" y="2843784"/>
            <a:ext cx="2514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39" name="Arch Frontend"/>
          <p:cNvSpPr/>
          <p:nvPr/>
        </p:nvSpPr>
        <p:spPr>
          <a:xfrm>
            <a:off x="3881628" y="2395728"/>
            <a:ext cx="148132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353334"/>
                </a:solidFill>
                <a:latin typeface="Fjalla One"/>
              </a:defRPr>
            </a:pPr>
            <a:r>
              <a:rPr lang="en-US" sz="950" b="1" dirty="0">
                <a:solidFill>
                  <a:srgbClr val="353334"/>
                </a:solidFill>
                <a:latin typeface="Fjalla One"/>
              </a:rPr>
              <a:t>FRONTEND</a:t>
            </a:r>
          </a:p>
          <a:p>
            <a:pPr algn="ctr">
              <a:spcBef>
                <a:spcPts val="10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React / Vite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Role-based interfaces</a:t>
            </a:r>
          </a:p>
        </p:txBody>
      </p:sp>
      <p:sp>
        <p:nvSpPr>
          <p:cNvPr id="40" name="Arch Arrow 2"/>
          <p:cNvSpPr txBox="1"/>
          <p:nvPr/>
        </p:nvSpPr>
        <p:spPr>
          <a:xfrm>
            <a:off x="5362956" y="2843784"/>
            <a:ext cx="2514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41" name="Arch Fastapi Core"/>
          <p:cNvSpPr/>
          <p:nvPr/>
        </p:nvSpPr>
        <p:spPr>
          <a:xfrm>
            <a:off x="5614416" y="2395728"/>
            <a:ext cx="148132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353334"/>
                </a:solidFill>
                <a:latin typeface="Fjalla One"/>
              </a:defRPr>
            </a:pPr>
            <a:r>
              <a:rPr lang="en-US" sz="950" b="1" dirty="0">
                <a:solidFill>
                  <a:srgbClr val="353334"/>
                </a:solidFill>
                <a:latin typeface="Fjalla One"/>
              </a:rPr>
              <a:t>FASTAPI CORE</a:t>
            </a:r>
          </a:p>
          <a:p>
            <a:pPr algn="ctr">
              <a:spcBef>
                <a:spcPts val="10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Auth / RBAC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Service Requests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SLA &amp; Validation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Scheduling &amp; Matching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Inventory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Approval &amp; Dispatch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Execution · Exceptions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Verification &amp; Audit</a:t>
            </a:r>
          </a:p>
        </p:txBody>
      </p:sp>
      <p:sp>
        <p:nvSpPr>
          <p:cNvPr id="42" name="Arch Arrow 3"/>
          <p:cNvSpPr txBox="1"/>
          <p:nvPr/>
        </p:nvSpPr>
        <p:spPr>
          <a:xfrm>
            <a:off x="7095744" y="2843784"/>
            <a:ext cx="2514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43" name="Arch Intelligence Layer"/>
          <p:cNvSpPr/>
          <p:nvPr/>
        </p:nvSpPr>
        <p:spPr>
          <a:xfrm>
            <a:off x="7347204" y="2395728"/>
            <a:ext cx="148132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353334"/>
                </a:solidFill>
                <a:latin typeface="Fjalla One"/>
              </a:defRPr>
            </a:pPr>
            <a:r>
              <a:rPr lang="en-US" sz="950" b="1" dirty="0">
                <a:solidFill>
                  <a:srgbClr val="353334"/>
                </a:solidFill>
                <a:latin typeface="Fjalla One"/>
              </a:rPr>
              <a:t>INTELLIGENCE LAYER</a:t>
            </a:r>
          </a:p>
          <a:p>
            <a:pPr algn="ctr">
              <a:spcBef>
                <a:spcPts val="10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AI Classification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Resource Planning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Technician Matching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SLA Risk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Exception Intelligence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Diagnostics / RAG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Operations Copilot</a:t>
            </a:r>
          </a:p>
        </p:txBody>
      </p:sp>
      <p:sp>
        <p:nvSpPr>
          <p:cNvPr id="44" name="Arch Arrow 4"/>
          <p:cNvSpPr txBox="1"/>
          <p:nvPr/>
        </p:nvSpPr>
        <p:spPr>
          <a:xfrm>
            <a:off x="8828532" y="2843784"/>
            <a:ext cx="2514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45" name="Arch Data &amp; Infra"/>
          <p:cNvSpPr/>
          <p:nvPr/>
        </p:nvSpPr>
        <p:spPr>
          <a:xfrm>
            <a:off x="9079992" y="2395728"/>
            <a:ext cx="148132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950" b="1">
                <a:solidFill>
                  <a:srgbClr val="353334"/>
                </a:solidFill>
                <a:latin typeface="Fjalla One"/>
              </a:defRPr>
            </a:pPr>
            <a:r>
              <a:rPr lang="en-US" sz="950" b="1" dirty="0">
                <a:solidFill>
                  <a:srgbClr val="353334"/>
                </a:solidFill>
                <a:latin typeface="Fjalla One"/>
              </a:rPr>
              <a:t>DATA &amp; INFRA</a:t>
            </a:r>
          </a:p>
          <a:p>
            <a:pPr algn="ctr">
              <a:spcBef>
                <a:spcPts val="10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PostgreSQL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Redis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Object Storage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WebSockets</a:t>
            </a:r>
          </a:p>
          <a:p>
            <a:pPr algn="ctr">
              <a:spcBef>
                <a:spcPts val="0"/>
              </a:spcBef>
              <a:defRPr sz="800">
                <a:solidFill>
                  <a:srgbClr val="3C3C41"/>
                </a:solidFill>
                <a:latin typeface="Mulish"/>
              </a:defRPr>
            </a:pPr>
            <a:r>
              <a:rPr lang="en-US" sz="800" dirty="0">
                <a:solidFill>
                  <a:srgbClr val="3C3C41"/>
                </a:solidFill>
                <a:latin typeface="Mulish"/>
              </a:rPr>
              <a:t>Background Jobs</a:t>
            </a:r>
          </a:p>
        </p:txBody>
      </p:sp>
      <p:sp>
        <p:nvSpPr>
          <p:cNvPr id="46" name="Arch Chain Label"/>
          <p:cNvSpPr txBox="1"/>
          <p:nvPr/>
        </p:nvSpPr>
        <p:spPr>
          <a:xfrm>
            <a:off x="2148840" y="3730752"/>
            <a:ext cx="5486400" cy="1828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800" b="1">
                <a:solidFill>
                  <a:srgbClr val="FD1485"/>
                </a:solidFill>
                <a:latin typeface="Fjalla One"/>
              </a:defRPr>
            </a:pPr>
            <a:r>
              <a:rPr lang="en-US" sz="800" b="1" dirty="0">
                <a:solidFill>
                  <a:srgbClr val="FD1485"/>
                </a:solidFill>
                <a:latin typeface="Fjalla One"/>
              </a:rPr>
              <a:t>AI RECOMMENDS  →  DETERMINISTIC SERVICES DECIDE &amp; EXECUTE</a:t>
            </a:r>
          </a:p>
        </p:txBody>
      </p:sp>
      <p:sp>
        <p:nvSpPr>
          <p:cNvPr id="47" name="Arch Chain 1"/>
          <p:cNvSpPr/>
          <p:nvPr/>
        </p:nvSpPr>
        <p:spPr>
          <a:xfrm>
            <a:off x="2148840" y="3931920"/>
            <a:ext cx="1078992" cy="438912"/>
          </a:xfrm>
          <a:prstGeom prst="homePlate">
            <a:avLst>
              <a:gd name="adj" fmla="val 30000"/>
            </a:avLst>
          </a:prstGeom>
          <a:solidFill>
            <a:srgbClr val="FD1485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73152" bIns="0" rtlCol="0" anchor="ctr"/>
          <a:lstStyle/>
          <a:p>
            <a:pPr algn="ctr">
              <a:defRPr sz="750" b="1">
                <a:solidFill>
                  <a:srgbClr val="FFFFFF"/>
                </a:solidFill>
                <a:latin typeface="Mulish"/>
              </a:defRPr>
            </a:pPr>
            <a:r>
              <a:rPr lang="en-US" sz="750" b="1" dirty="0">
                <a:solidFill>
                  <a:srgbClr val="FFFFFF"/>
                </a:solidFill>
                <a:latin typeface="Mulish"/>
              </a:rPr>
              <a:t>AI Recommendation</a:t>
            </a:r>
          </a:p>
        </p:txBody>
      </p:sp>
      <p:sp>
        <p:nvSpPr>
          <p:cNvPr id="48" name="Arch Chain 2"/>
          <p:cNvSpPr/>
          <p:nvPr/>
        </p:nvSpPr>
        <p:spPr>
          <a:xfrm>
            <a:off x="3273552" y="3931920"/>
            <a:ext cx="1078992" cy="438912"/>
          </a:xfrm>
          <a:prstGeom prst="homePlate">
            <a:avLst>
              <a:gd name="adj" fmla="val 30000"/>
            </a:avLst>
          </a:prstGeom>
          <a:solidFill>
            <a:srgbClr val="079ED2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73152" bIns="0" rtlCol="0" anchor="ctr"/>
          <a:lstStyle/>
          <a:p>
            <a:pPr algn="ctr">
              <a:defRPr sz="750" b="1">
                <a:solidFill>
                  <a:srgbClr val="FFFFFF"/>
                </a:solidFill>
                <a:latin typeface="Mulish"/>
              </a:defRPr>
            </a:pPr>
            <a:r>
              <a:rPr lang="en-US" sz="750" b="1" dirty="0">
                <a:solidFill>
                  <a:srgbClr val="FFFFFF"/>
                </a:solidFill>
                <a:latin typeface="Mulish"/>
              </a:rPr>
              <a:t>Structured Output</a:t>
            </a:r>
          </a:p>
        </p:txBody>
      </p:sp>
      <p:sp>
        <p:nvSpPr>
          <p:cNvPr id="49" name="Arch Chain 3"/>
          <p:cNvSpPr/>
          <p:nvPr/>
        </p:nvSpPr>
        <p:spPr>
          <a:xfrm>
            <a:off x="4398264" y="3931920"/>
            <a:ext cx="1078992" cy="438912"/>
          </a:xfrm>
          <a:prstGeom prst="homePlate">
            <a:avLst>
              <a:gd name="adj" fmla="val 30000"/>
            </a:avLst>
          </a:prstGeom>
          <a:solidFill>
            <a:srgbClr val="FFB903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73152" bIns="0" rtlCol="0" anchor="ctr"/>
          <a:lstStyle/>
          <a:p>
            <a:pPr algn="ctr">
              <a:defRPr sz="750" b="1">
                <a:solidFill>
                  <a:srgbClr val="353334"/>
                </a:solidFill>
                <a:latin typeface="Mulish"/>
              </a:defRPr>
            </a:pPr>
            <a:r>
              <a:rPr lang="en-US" sz="750" b="1" dirty="0">
                <a:solidFill>
                  <a:srgbClr val="353334"/>
                </a:solidFill>
                <a:latin typeface="Mulish"/>
              </a:rPr>
              <a:t>Deterministic Validation</a:t>
            </a:r>
          </a:p>
        </p:txBody>
      </p:sp>
      <p:sp>
        <p:nvSpPr>
          <p:cNvPr id="50" name="Arch Chain 4"/>
          <p:cNvSpPr/>
          <p:nvPr/>
        </p:nvSpPr>
        <p:spPr>
          <a:xfrm>
            <a:off x="5522976" y="3931920"/>
            <a:ext cx="1078992" cy="438912"/>
          </a:xfrm>
          <a:prstGeom prst="homePlate">
            <a:avLst>
              <a:gd name="adj" fmla="val 30000"/>
            </a:avLst>
          </a:prstGeom>
          <a:solidFill>
            <a:srgbClr val="353334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73152" bIns="0" rtlCol="0" anchor="ctr"/>
          <a:lstStyle/>
          <a:p>
            <a:pPr algn="ctr">
              <a:defRPr sz="750" b="1">
                <a:solidFill>
                  <a:srgbClr val="FFFFFF"/>
                </a:solidFill>
                <a:latin typeface="Mulish"/>
              </a:defRPr>
            </a:pPr>
            <a:r>
              <a:rPr lang="en-US" sz="750" b="1" dirty="0">
                <a:solidFill>
                  <a:srgbClr val="FFFFFF"/>
                </a:solidFill>
                <a:latin typeface="Mulish"/>
              </a:rPr>
              <a:t>Database Transaction</a:t>
            </a:r>
          </a:p>
        </p:txBody>
      </p:sp>
      <p:sp>
        <p:nvSpPr>
          <p:cNvPr id="51" name="Arch Chain 5"/>
          <p:cNvSpPr/>
          <p:nvPr/>
        </p:nvSpPr>
        <p:spPr>
          <a:xfrm>
            <a:off x="6647688" y="3931920"/>
            <a:ext cx="1078992" cy="438912"/>
          </a:xfrm>
          <a:prstGeom prst="homePlate">
            <a:avLst>
              <a:gd name="adj" fmla="val 30000"/>
            </a:avLst>
          </a:prstGeom>
          <a:solidFill>
            <a:srgbClr val="FD1485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73152" bIns="0" rtlCol="0" anchor="ctr"/>
          <a:lstStyle/>
          <a:p>
            <a:pPr algn="ctr">
              <a:defRPr sz="750" b="1">
                <a:solidFill>
                  <a:srgbClr val="FFFFFF"/>
                </a:solidFill>
                <a:latin typeface="Mulish"/>
              </a:defRPr>
            </a:pPr>
            <a:r>
              <a:rPr lang="en-US" sz="750" b="1" dirty="0">
                <a:solidFill>
                  <a:srgbClr val="FFFFFF"/>
                </a:solidFill>
                <a:latin typeface="Mulish"/>
              </a:rPr>
              <a:t>Audit</a:t>
            </a:r>
          </a:p>
        </p:txBody>
      </p:sp>
      <p:sp>
        <p:nvSpPr>
          <p:cNvPr id="52" name="Arch Outputs"/>
          <p:cNvSpPr/>
          <p:nvPr/>
        </p:nvSpPr>
        <p:spPr>
          <a:xfrm>
            <a:off x="7909560" y="3931920"/>
            <a:ext cx="26517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Fjalla One"/>
              </a:defRPr>
            </a:pPr>
            <a:r>
              <a:rPr lang="en-US" sz="850" b="1" dirty="0">
                <a:solidFill>
                  <a:srgbClr val="353334"/>
                </a:solidFill>
                <a:latin typeface="Fjalla One"/>
              </a:rPr>
              <a:t>OUTPUTS</a:t>
            </a:r>
          </a:p>
          <a:p>
            <a:pPr algn="ctr">
              <a:defRPr sz="750">
                <a:solidFill>
                  <a:srgbClr val="3C3C41"/>
                </a:solidFill>
                <a:latin typeface="Mulish"/>
              </a:defRPr>
            </a:pPr>
            <a:r>
              <a:rPr lang="en-US" sz="750" dirty="0">
                <a:solidFill>
                  <a:srgbClr val="3C3C41"/>
                </a:solidFill>
                <a:latin typeface="Mulish"/>
              </a:rPr>
              <a:t>Dashboards · Notifications · Machine Passport ·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05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Feasibility &amp;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Concrete boundaries · Operational run rate · Risk mitigation · Post-hackathon plans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01 ·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3134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lang="en-US" sz="1300" b="1" dirty="0">
                <a:solidFill>
                  <a:srgbClr val="353334"/>
                </a:solidFill>
                <a:latin typeface="Fjalla One"/>
              </a:rPr>
              <a:t>1. SCOPE</a:t>
            </a:r>
          </a:p>
          <a:p>
            <a:pPr>
              <a:spcBef>
                <a:spcPts val="4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079ED2"/>
                </a:solidFill>
                <a:latin typeface="Mulish"/>
              </a:rPr>
              <a:t>In: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Authentication &amp; RBAC · Multi-site equipment · Reactive maintenance · AI classification · Validation &amp; SLA · Technician matching · Inventory &amp; resources · Approval &amp; dispatch · Technician execution · Exception handling · Dynamic reassignment · Completion verification · Service history · Dashboards &amp; audit</a:t>
            </a:r>
          </a:p>
          <a:p>
            <a:pPr>
              <a:spcBef>
                <a:spcPts val="5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FD1485"/>
                </a:solidFill>
                <a:latin typeface="Mulish"/>
              </a:rPr>
              <a:t>Out (future expansion):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Enterprise IoT infrastructure, blockchain, offline mobile, advanced digital twin, complex computer vision, complex optimization, fully autonomous AI agents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02 · 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1343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lang="en-US" sz="1300" b="1" dirty="0">
                <a:solidFill>
                  <a:srgbClr val="353334"/>
                </a:solidFill>
                <a:latin typeface="Fjalla One"/>
              </a:rPr>
              <a:t>2. RUNNING COST</a:t>
            </a:r>
          </a:p>
          <a:p>
            <a:pPr>
              <a:spcBef>
                <a:spcPts val="4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3C3C41"/>
                </a:solidFill>
                <a:latin typeface="Mulish"/>
              </a:rPr>
              <a:t>Prototype-first architecture.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Local development and demo run with minimal infrastructure cost.</a:t>
            </a:r>
          </a:p>
          <a:p>
            <a:pPr>
              <a:spcBef>
                <a:spcPts val="5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Production cost depends on: </a:t>
            </a:r>
            <a:r>
              <a:rPr lang="en-US" sz="900" b="1" dirty="0">
                <a:solidFill>
                  <a:srgbClr val="FD1485"/>
                </a:solidFill>
                <a:latin typeface="Mulish"/>
              </a:rPr>
              <a:t>Hosting + Database + Storage + Realtime + AI API usage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.</a:t>
            </a:r>
          </a:p>
          <a:p>
            <a:pPr>
              <a:spcBef>
                <a:spcPts val="5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The architecture stays cloud-agnostic and can scale to managed infrastructure later.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03 · CONTINGENCY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64515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lang="en-US" sz="1300" b="1" dirty="0">
                <a:solidFill>
                  <a:srgbClr val="353334"/>
                </a:solidFill>
                <a:latin typeface="Fjalla One"/>
              </a:rPr>
              <a:t>3. RISKS &amp; FALLBACK</a:t>
            </a:r>
          </a:p>
          <a:p>
            <a:pPr marL="171450" indent="-171450">
              <a:spcBef>
                <a:spcPts val="300"/>
              </a:spcBef>
              <a:buClr>
                <a:srgbClr val="FD1485"/>
              </a:buClr>
              <a:buFont typeface="Arial"/>
              <a:buChar char="•"/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3C3C41"/>
                </a:solidFill>
                <a:latin typeface="Mulish"/>
              </a:rPr>
              <a:t>AI failure: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structured fallback + deterministic rules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3C3C41"/>
                </a:solidFill>
                <a:latin typeface="Mulish"/>
              </a:rPr>
              <a:t>AI hallucination: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schema validation + confidence + backend policy checks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3C3C41"/>
                </a:solidFill>
                <a:latin typeface="Mulish"/>
              </a:rPr>
              <a:t>Technician dropout: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exception detection + candidate re-ranking + reassignment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3C3C41"/>
                </a:solidFill>
                <a:latin typeface="Mulish"/>
              </a:rPr>
              <a:t>Part shortage: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alternate warehouse/resource resolution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3C3C41"/>
                </a:solidFill>
                <a:latin typeface="Mulish"/>
              </a:rPr>
              <a:t>SLA risk: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risk detection + escalation + reassignment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3C3C41"/>
                </a:solidFill>
                <a:latin typeface="Mulish"/>
              </a:rPr>
              <a:t>Data inconsistency: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validation + database constraints + transactions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04 ·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45152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lang="en-US" sz="1300" b="1" dirty="0">
                <a:solidFill>
                  <a:srgbClr val="353334"/>
                </a:solidFill>
                <a:latin typeface="Fjalla One"/>
              </a:rPr>
              <a:t>4. AFTER THE HACKATHON</a:t>
            </a:r>
          </a:p>
          <a:p>
            <a:pPr>
              <a:spcBef>
                <a:spcPts val="4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FD1485"/>
                </a:solidFill>
                <a:latin typeface="Mulish"/>
              </a:rPr>
              <a:t>Phase 1 —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Production deployment, security hardening, testing and observability.</a:t>
            </a:r>
          </a:p>
          <a:p>
            <a:pPr>
              <a:spcBef>
                <a:spcPts val="5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FD1485"/>
                </a:solidFill>
                <a:latin typeface="Mulish"/>
              </a:rPr>
              <a:t>Phase 2 —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IoT integration, predictive maintenance, RAG diagnostics, spare-part and SLA prediction.</a:t>
            </a:r>
          </a:p>
          <a:p>
            <a:pPr>
              <a:spcBef>
                <a:spcPts val="5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b="1" dirty="0">
                <a:solidFill>
                  <a:srgbClr val="FD1485"/>
                </a:solidFill>
                <a:latin typeface="Mulish"/>
              </a:rPr>
              <a:t>Phase 3 — </a:t>
            </a:r>
            <a:r>
              <a:rPr lang="en-US" sz="900" dirty="0">
                <a:solidFill>
                  <a:srgbClr val="3C3C41"/>
                </a:solidFill>
                <a:latin typeface="Mulish"/>
              </a:rPr>
              <a:t>Mobile/offline workflows, route optimization, digital twin, computer vision, voice and enterprise integrations.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06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Impact &amp;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Primary measurable impact · Transparent calculation · Stakeholder advantages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PRIMARY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1945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D1485"/>
                </a:solidFill>
                <a:latin typeface="Fjalla One"/>
              </a:defRPr>
            </a:pPr>
            <a:r>
              <a:rPr lang="en-US" sz="4000" b="1" dirty="0">
                <a:solidFill>
                  <a:srgbClr val="FD1485"/>
                </a:solidFill>
                <a:latin typeface="Fjalla One"/>
              </a:rPr>
              <a:t>END-TO-END</a:t>
            </a:r>
          </a:p>
          <a:p>
            <a:pPr>
              <a:spcBef>
                <a:spcPts val="200"/>
              </a:spcBef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lang="en-US" sz="1200" b="1" dirty="0">
                <a:solidFill>
                  <a:srgbClr val="353334"/>
                </a:solidFill>
                <a:latin typeface="Fjalla One"/>
              </a:rPr>
              <a:t>WORKFLOW COVERAGE</a:t>
            </a:r>
          </a:p>
          <a:p>
            <a:pPr>
              <a:spcBef>
                <a:spcPts val="50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Complete maintenance lifecycle: request intake → classification → validation → matching → resource coordination → approval → execution → exception recovery → verification → closure.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2860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lang="en-US" sz="1200" b="1" dirty="0">
                <a:solidFill>
                  <a:srgbClr val="353334"/>
                </a:solidFill>
                <a:latin typeface="Fjalla One"/>
              </a:rPr>
              <a:t>HOW IT WAS MEASURED</a:t>
            </a:r>
          </a:p>
          <a:p>
            <a:pPr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b="1" dirty="0">
                <a:solidFill>
                  <a:srgbClr val="3C3C41"/>
                </a:solidFill>
                <a:latin typeface="Mulish"/>
              </a:rPr>
              <a:t>Scenario-based prototype validation </a:t>
            </a:r>
            <a:r>
              <a:rPr lang="en-US" sz="1000" dirty="0">
                <a:solidFill>
                  <a:srgbClr val="3C3C41"/>
                </a:solidFill>
                <a:latin typeface="Mulish"/>
              </a:rPr>
              <a:t>using the M-104 reactive maintenance workflow.</a:t>
            </a:r>
          </a:p>
          <a:p>
            <a:pPr>
              <a:spcBef>
                <a:spcPts val="5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000" dirty="0">
                <a:solidFill>
                  <a:srgbClr val="3C3C41"/>
                </a:solidFill>
                <a:latin typeface="Mulish"/>
              </a:rPr>
              <a:t>The scenario exercises the complete orchestration path, including technician dropout and resource-shortage recovery.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65960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IMPACT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43400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WHAT IMPROVES</a:t>
            </a:r>
          </a:p>
          <a:p>
            <a:pPr>
              <a:spcBef>
                <a:spcPts val="40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b="1" dirty="0">
                <a:solidFill>
                  <a:srgbClr val="FD1485"/>
                </a:solidFill>
                <a:latin typeface="Mulish"/>
              </a:rPr>
              <a:t>Fragmented coordination → Unified orchestration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Faster resource identification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Better technician selection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Earlier SLA risk detection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Faster exception recovery</a:t>
            </a:r>
          </a:p>
          <a:p>
            <a:pPr marL="171450" indent="-171450">
              <a:spcBef>
                <a:spcPts val="250"/>
              </a:spcBef>
              <a:buClr>
                <a:srgbClr val="FD1485"/>
              </a:buClr>
              <a:buFont typeface="Arial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dirty="0">
                <a:solidFill>
                  <a:srgbClr val="3C3C41"/>
                </a:solidFill>
                <a:latin typeface="Mulish"/>
              </a:rPr>
              <a:t>Centralized operational visibility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64608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84648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IMPACT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343400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WHO ELSE BENEFITS</a:t>
            </a:r>
          </a:p>
          <a:p>
            <a:pPr>
              <a:spcBef>
                <a:spcPts val="40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Customers: 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faster, more transparent service</a:t>
            </a:r>
          </a:p>
          <a:p>
            <a:pPr>
              <a:spcBef>
                <a:spcPts val="35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Technicians: 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clearer assignments, checklists and resources</a:t>
            </a:r>
          </a:p>
          <a:p>
            <a:pPr>
              <a:spcBef>
                <a:spcPts val="35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Managers: 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centralized command and exception visibility</a:t>
            </a:r>
          </a:p>
          <a:p>
            <a:pPr>
              <a:spcBef>
                <a:spcPts val="35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Inventory teams: 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proactive resource coordination</a:t>
            </a:r>
          </a:p>
          <a:p>
            <a:pPr>
              <a:spcBef>
                <a:spcPts val="35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Equipment owners: 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complete machine service history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03336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IMPACT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343400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100" b="1" dirty="0">
                <a:solidFill>
                  <a:srgbClr val="353334"/>
                </a:solidFill>
                <a:latin typeface="Fjalla One"/>
              </a:rPr>
              <a:t>RISKS / MISUSE</a:t>
            </a:r>
          </a:p>
          <a:p>
            <a:pPr>
              <a:spcBef>
                <a:spcPts val="40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b="1" dirty="0">
                <a:solidFill>
                  <a:srgbClr val="3C3C41"/>
                </a:solidFill>
                <a:latin typeface="Mulish"/>
              </a:rPr>
              <a:t>Risks: 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incorrect AI classification, poor input data, incorrect recommendations, unauthorized actions, privacy/security issues, over-reliance on AI.</a:t>
            </a:r>
          </a:p>
          <a:p>
            <a:pPr>
              <a:spcBef>
                <a:spcPts val="500"/>
              </a:spcBef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950" b="1" dirty="0">
                <a:solidFill>
                  <a:srgbClr val="FD1485"/>
                </a:solidFill>
                <a:latin typeface="Mulish"/>
              </a:rPr>
              <a:t>Mitigation: </a:t>
            </a:r>
            <a:r>
              <a:rPr lang="en-US" sz="950" dirty="0">
                <a:solidFill>
                  <a:srgbClr val="3C3C41"/>
                </a:solidFill>
                <a:latin typeface="Mulish"/>
              </a:rPr>
              <a:t>RBAC + deterministic validation + human approval + structured AI outputs + audit logs + transactional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07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Why This Project?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Direct contrast with today's alternatives · Unfair technical advantage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457200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STATUS QUO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28600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lang="en-US" sz="1400" b="1" dirty="0">
                <a:solidFill>
                  <a:srgbClr val="353334"/>
                </a:solidFill>
                <a:latin typeface="Fjalla One"/>
              </a:rPr>
              <a:t>CURRENT APPROACH</a:t>
            </a:r>
          </a:p>
          <a:p>
            <a:pPr>
              <a:spcBef>
                <a:spcPts val="400"/>
              </a:spcBef>
              <a:defRPr sz="1100">
                <a:solidFill>
                  <a:srgbClr val="3C3C41"/>
                </a:solidFill>
                <a:latin typeface="Mulish"/>
              </a:defRPr>
            </a:pPr>
            <a:r>
              <a:rPr lang="en-US" sz="1100" dirty="0">
                <a:solidFill>
                  <a:srgbClr val="3C3C41"/>
                </a:solidFill>
                <a:latin typeface="Mulish"/>
              </a:rPr>
              <a:t>Maintenance requests, technicians, inventory, approvals and service history are often managed as separate operational activities.</a:t>
            </a:r>
          </a:p>
          <a:p>
            <a:pPr>
              <a:spcBef>
                <a:spcPts val="800"/>
              </a:spcBef>
              <a:defRPr sz="1100">
                <a:solidFill>
                  <a:srgbClr val="3C3C41"/>
                </a:solidFill>
                <a:latin typeface="Mulish"/>
              </a:defRPr>
            </a:pPr>
            <a:r>
              <a:rPr lang="en-US" sz="1100" dirty="0">
                <a:solidFill>
                  <a:srgbClr val="3C3C41"/>
                </a:solidFill>
                <a:latin typeface="Mulish"/>
              </a:rPr>
              <a:t>When a technician drops out or a resource becomes unavailable, recovery depends heavily on manual coordination.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011680"/>
            <a:ext cx="457200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OUR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28600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lang="en-US" sz="1400" b="1" dirty="0">
                <a:solidFill>
                  <a:srgbClr val="353334"/>
                </a:solidFill>
                <a:latin typeface="Fjalla One"/>
              </a:rPr>
              <a:t>OUR APPROACH</a:t>
            </a:r>
          </a:p>
          <a:p>
            <a:pPr>
              <a:spcBef>
                <a:spcPts val="400"/>
              </a:spcBef>
              <a:defRPr sz="1100">
                <a:solidFill>
                  <a:srgbClr val="3C3C41"/>
                </a:solidFill>
                <a:latin typeface="Mulish"/>
              </a:defRPr>
            </a:pPr>
            <a:r>
              <a:rPr lang="en-US" sz="1100" dirty="0">
                <a:solidFill>
                  <a:srgbClr val="3C3C41"/>
                </a:solidFill>
                <a:latin typeface="Mulish"/>
              </a:rPr>
              <a:t>DQBH treats maintenance as </a:t>
            </a:r>
            <a:r>
              <a:rPr lang="en-US" sz="1100" b="1" dirty="0">
                <a:solidFill>
                  <a:srgbClr val="3C3C41"/>
                </a:solidFill>
                <a:latin typeface="Mulish"/>
              </a:rPr>
              <a:t>one continuously orchestrated workflow:</a:t>
            </a:r>
          </a:p>
          <a:p>
            <a:pPr>
              <a:spcBef>
                <a:spcPts val="500"/>
              </a:spcBef>
              <a:defRPr sz="1100">
                <a:solidFill>
                  <a:srgbClr val="3C3C41"/>
                </a:solidFill>
                <a:latin typeface="Mulish"/>
              </a:defRPr>
            </a:pPr>
            <a:r>
              <a:rPr lang="en-US" sz="1100" b="1" dirty="0">
                <a:solidFill>
                  <a:srgbClr val="FD1485"/>
                </a:solidFill>
                <a:latin typeface="Mulish"/>
              </a:rPr>
              <a:t>Request → Machine → SLA → Technician → Parts → Approval → Execution → Exception → Reassignment → Verification → History</a:t>
            </a:r>
          </a:p>
          <a:p>
            <a:pPr>
              <a:spcBef>
                <a:spcPts val="500"/>
              </a:spcBef>
              <a:defRPr sz="1100">
                <a:solidFill>
                  <a:srgbClr val="3C3C41"/>
                </a:solidFill>
                <a:latin typeface="Mulish"/>
              </a:defRPr>
            </a:pPr>
            <a:r>
              <a:rPr lang="en-US" sz="1100" dirty="0">
                <a:solidFill>
                  <a:srgbClr val="3C3C41"/>
                </a:solidFill>
                <a:latin typeface="Mulish"/>
              </a:rPr>
              <a:t>The system continuously evaluates operational feasibility instead of making a one-time assignment.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892040"/>
            <a:ext cx="941832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7640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MOAT / DIFFERENTIATION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120640"/>
            <a:ext cx="8869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D1485"/>
                </a:solidFill>
                <a:latin typeface="Fjalla One"/>
              </a:defRPr>
            </a:pPr>
            <a:r>
              <a:rPr lang="en-US" sz="1200" b="1" dirty="0">
                <a:solidFill>
                  <a:srgbClr val="FD1485"/>
                </a:solidFill>
                <a:latin typeface="Fjalla One"/>
              </a:rPr>
              <a:t>KEY DIFFERENCE</a:t>
            </a:r>
          </a:p>
          <a:p>
            <a:pPr>
              <a:spcBef>
                <a:spcPts val="400"/>
              </a:spcBef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lang="en-US" sz="1400" b="1" dirty="0">
                <a:solidFill>
                  <a:srgbClr val="353334"/>
                </a:solidFill>
                <a:latin typeface="Fjalla One"/>
              </a:rPr>
              <a:t>“DQBH does not merely recommend who should perform a job — it closes the loop between AI recommendations and deterministic operational execution, including resource validation, reservation, exception recovery, dynamic reassignment and verified service history.”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D1485"/>
                </a:solidFill>
                <a:latin typeface="Fjalla One"/>
              </a:rPr>
              <a:t>08  </a:t>
            </a:r>
            <a:r>
              <a:rPr sz="3200" b="1" dirty="0">
                <a:solidFill>
                  <a:srgbClr val="353334"/>
                </a:solidFill>
                <a:latin typeface="Fjalla One"/>
              </a:rPr>
              <a:t>Extra Slide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Optional appendix · Extra diagrams, product screenshots, benchmarks, or backup details</a:t>
            </a:r>
          </a:p>
        </p:txBody>
      </p:sp>
      <p:sp>
        <p:nvSpPr>
          <p:cNvPr id="24" name="Demo Scenario Label"/>
          <p:cNvSpPr/>
          <p:nvPr/>
        </p:nvSpPr>
        <p:spPr>
          <a:xfrm>
            <a:off x="1645920" y="193852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END-TO-END DEMO SCENARIO  ·  M-104 ABNORMAL VIBRATION</a:t>
            </a:r>
          </a:p>
        </p:txBody>
      </p:sp>
      <p:sp>
        <p:nvSpPr>
          <p:cNvPr id="25" name="Step 1"/>
          <p:cNvSpPr/>
          <p:nvPr/>
        </p:nvSpPr>
        <p:spPr>
          <a:xfrm>
            <a:off x="1645920" y="2359152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079ED2"/>
                </a:solidFill>
                <a:latin typeface="Fjalla One"/>
              </a:defRPr>
            </a:pPr>
            <a:r>
              <a:rPr lang="en-US" sz="2000" b="1" dirty="0">
                <a:solidFill>
                  <a:srgbClr val="079ED2"/>
                </a:solidFill>
                <a:latin typeface="Fjalla One"/>
              </a:rPr>
              <a:t>01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REQUEST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Customer reports abnormal vibration.</a:t>
            </a:r>
          </a:p>
        </p:txBody>
      </p:sp>
      <p:sp>
        <p:nvSpPr>
          <p:cNvPr id="26" name="Step Arrow 1"/>
          <p:cNvSpPr txBox="1"/>
          <p:nvPr/>
        </p:nvSpPr>
        <p:spPr>
          <a:xfrm>
            <a:off x="3017520" y="2884932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27" name="Step 2"/>
          <p:cNvSpPr/>
          <p:nvPr/>
        </p:nvSpPr>
        <p:spPr>
          <a:xfrm>
            <a:off x="3255264" y="2359152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E0A000"/>
                </a:solidFill>
                <a:latin typeface="Fjalla One"/>
              </a:defRPr>
            </a:pPr>
            <a:r>
              <a:rPr lang="en-US" sz="2000" b="1" dirty="0">
                <a:solidFill>
                  <a:srgbClr val="E0A000"/>
                </a:solidFill>
                <a:latin typeface="Fjalla One"/>
              </a:rPr>
              <a:t>02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AI UNDERSTANDS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Classifies issue, severity, skills and required resources.</a:t>
            </a:r>
          </a:p>
        </p:txBody>
      </p:sp>
      <p:sp>
        <p:nvSpPr>
          <p:cNvPr id="28" name="Step Arrow 2"/>
          <p:cNvSpPr txBox="1"/>
          <p:nvPr/>
        </p:nvSpPr>
        <p:spPr>
          <a:xfrm>
            <a:off x="4626864" y="2884932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29" name="Step 3"/>
          <p:cNvSpPr/>
          <p:nvPr/>
        </p:nvSpPr>
        <p:spPr>
          <a:xfrm>
            <a:off x="4864608" y="2359152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FD1485"/>
                </a:solidFill>
                <a:latin typeface="Fjalla One"/>
              </a:defRPr>
            </a:pPr>
            <a:r>
              <a:rPr lang="en-US" sz="2000" b="1" dirty="0">
                <a:solidFill>
                  <a:srgbClr val="FD1485"/>
                </a:solidFill>
                <a:latin typeface="Fjalla One"/>
              </a:rPr>
              <a:t>03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VALIDATE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Machine eligibility, SLA, skills and resource requirements checked.</a:t>
            </a:r>
          </a:p>
        </p:txBody>
      </p:sp>
      <p:sp>
        <p:nvSpPr>
          <p:cNvPr id="30" name="Step Arrow 3"/>
          <p:cNvSpPr txBox="1"/>
          <p:nvPr/>
        </p:nvSpPr>
        <p:spPr>
          <a:xfrm>
            <a:off x="6236208" y="2884932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31" name="Step 4"/>
          <p:cNvSpPr/>
          <p:nvPr/>
        </p:nvSpPr>
        <p:spPr>
          <a:xfrm>
            <a:off x="6473952" y="2359152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079ED2"/>
                </a:solidFill>
                <a:latin typeface="Fjalla One"/>
              </a:defRPr>
            </a:pPr>
            <a:r>
              <a:rPr lang="en-US" sz="2000" b="1" dirty="0">
                <a:solidFill>
                  <a:srgbClr val="079ED2"/>
                </a:solidFill>
                <a:latin typeface="Fjalla One"/>
              </a:rPr>
              <a:t>04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MATCH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Technicians ranked on skills, availability, distance, workload, familiarity and SLA feasibility.</a:t>
            </a:r>
          </a:p>
        </p:txBody>
      </p:sp>
      <p:sp>
        <p:nvSpPr>
          <p:cNvPr id="32" name="Step Arrow 4"/>
          <p:cNvSpPr txBox="1"/>
          <p:nvPr/>
        </p:nvSpPr>
        <p:spPr>
          <a:xfrm>
            <a:off x="7845552" y="2884932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33" name="Step 5"/>
          <p:cNvSpPr/>
          <p:nvPr/>
        </p:nvSpPr>
        <p:spPr>
          <a:xfrm>
            <a:off x="8083296" y="2359152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E0A000"/>
                </a:solidFill>
                <a:latin typeface="Fjalla One"/>
              </a:defRPr>
            </a:pPr>
            <a:r>
              <a:rPr lang="en-US" sz="2000" b="1" dirty="0">
                <a:solidFill>
                  <a:srgbClr val="E0A000"/>
                </a:solidFill>
                <a:latin typeface="Fjalla One"/>
              </a:rPr>
              <a:t>05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RESOURCES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Required part unavailable → alternate warehouse identified.</a:t>
            </a:r>
          </a:p>
        </p:txBody>
      </p:sp>
      <p:sp>
        <p:nvSpPr>
          <p:cNvPr id="34" name="Step Arrow 5"/>
          <p:cNvSpPr txBox="1"/>
          <p:nvPr/>
        </p:nvSpPr>
        <p:spPr>
          <a:xfrm>
            <a:off x="9454896" y="2884932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35" name="Step 6"/>
          <p:cNvSpPr/>
          <p:nvPr/>
        </p:nvSpPr>
        <p:spPr>
          <a:xfrm>
            <a:off x="9692640" y="2359152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FD1485"/>
                </a:solidFill>
                <a:latin typeface="Fjalla One"/>
              </a:defRPr>
            </a:pPr>
            <a:r>
              <a:rPr lang="en-US" sz="2000" b="1" dirty="0">
                <a:solidFill>
                  <a:srgbClr val="FD1485"/>
                </a:solidFill>
                <a:latin typeface="Fjalla One"/>
              </a:rPr>
              <a:t>06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APPROVE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Manager reviews and approves the plan.</a:t>
            </a:r>
          </a:p>
        </p:txBody>
      </p:sp>
      <p:sp>
        <p:nvSpPr>
          <p:cNvPr id="36" name="Step 7"/>
          <p:cNvSpPr/>
          <p:nvPr/>
        </p:nvSpPr>
        <p:spPr>
          <a:xfrm>
            <a:off x="1645920" y="397764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079ED2"/>
                </a:solidFill>
                <a:latin typeface="Fjalla One"/>
              </a:defRPr>
            </a:pPr>
            <a:r>
              <a:rPr lang="en-US" sz="2000" b="1" dirty="0">
                <a:solidFill>
                  <a:srgbClr val="079ED2"/>
                </a:solidFill>
                <a:latin typeface="Fjalla One"/>
              </a:rPr>
              <a:t>07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DISPATCH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Technician receives the assignment.</a:t>
            </a:r>
          </a:p>
        </p:txBody>
      </p:sp>
      <p:sp>
        <p:nvSpPr>
          <p:cNvPr id="37" name="Step Arrow 7"/>
          <p:cNvSpPr txBox="1"/>
          <p:nvPr/>
        </p:nvSpPr>
        <p:spPr>
          <a:xfrm>
            <a:off x="3017520" y="4503420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38" name="Step 8"/>
          <p:cNvSpPr/>
          <p:nvPr/>
        </p:nvSpPr>
        <p:spPr>
          <a:xfrm>
            <a:off x="3255264" y="397764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E0A000"/>
                </a:solidFill>
                <a:latin typeface="Fjalla One"/>
              </a:defRPr>
            </a:pPr>
            <a:r>
              <a:rPr lang="en-US" sz="2000" b="1" dirty="0">
                <a:solidFill>
                  <a:srgbClr val="E0A000"/>
                </a:solidFill>
                <a:latin typeface="Fjalla One"/>
              </a:rPr>
              <a:t>08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EXCEPTION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Assigned technician becomes unavailable.</a:t>
            </a:r>
          </a:p>
        </p:txBody>
      </p:sp>
      <p:sp>
        <p:nvSpPr>
          <p:cNvPr id="39" name="Step Arrow 8"/>
          <p:cNvSpPr txBox="1"/>
          <p:nvPr/>
        </p:nvSpPr>
        <p:spPr>
          <a:xfrm>
            <a:off x="4626864" y="4503420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40" name="Step 9"/>
          <p:cNvSpPr/>
          <p:nvPr/>
        </p:nvSpPr>
        <p:spPr>
          <a:xfrm>
            <a:off x="4864608" y="397764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FD1485"/>
                </a:solidFill>
                <a:latin typeface="Fjalla One"/>
              </a:defRPr>
            </a:pPr>
            <a:r>
              <a:rPr lang="en-US" sz="2000" b="1" dirty="0">
                <a:solidFill>
                  <a:srgbClr val="FD1485"/>
                </a:solidFill>
                <a:latin typeface="Fjalla One"/>
              </a:rPr>
              <a:t>09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REASSIGN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System detects the exception and recommends a replacement technician.</a:t>
            </a:r>
          </a:p>
        </p:txBody>
      </p:sp>
      <p:sp>
        <p:nvSpPr>
          <p:cNvPr id="41" name="Step Arrow 9"/>
          <p:cNvSpPr txBox="1"/>
          <p:nvPr/>
        </p:nvSpPr>
        <p:spPr>
          <a:xfrm>
            <a:off x="6236208" y="4503420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42" name="Step 10"/>
          <p:cNvSpPr/>
          <p:nvPr/>
        </p:nvSpPr>
        <p:spPr>
          <a:xfrm>
            <a:off x="6473952" y="397764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079ED2"/>
                </a:solidFill>
                <a:latin typeface="Fjalla One"/>
              </a:defRPr>
            </a:pPr>
            <a:r>
              <a:rPr lang="en-US" sz="2000" b="1" dirty="0">
                <a:solidFill>
                  <a:srgbClr val="079ED2"/>
                </a:solidFill>
                <a:latin typeface="Fjalla One"/>
              </a:rPr>
              <a:t>10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EXECUTE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Replacement technician completes the work, checklist and evidence.</a:t>
            </a:r>
          </a:p>
        </p:txBody>
      </p:sp>
      <p:sp>
        <p:nvSpPr>
          <p:cNvPr id="43" name="Step Arrow 10"/>
          <p:cNvSpPr txBox="1"/>
          <p:nvPr/>
        </p:nvSpPr>
        <p:spPr>
          <a:xfrm>
            <a:off x="7845552" y="4503420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44" name="Step 11"/>
          <p:cNvSpPr/>
          <p:nvPr/>
        </p:nvSpPr>
        <p:spPr>
          <a:xfrm>
            <a:off x="8083296" y="397764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E0A000"/>
                </a:solidFill>
                <a:latin typeface="Fjalla One"/>
              </a:defRPr>
            </a:pPr>
            <a:r>
              <a:rPr lang="en-US" sz="2000" b="1" dirty="0">
                <a:solidFill>
                  <a:srgbClr val="E0A000"/>
                </a:solidFill>
                <a:latin typeface="Fjalla One"/>
              </a:rPr>
              <a:t>11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VERIFY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Completion is verified and approved.</a:t>
            </a:r>
          </a:p>
        </p:txBody>
      </p:sp>
      <p:sp>
        <p:nvSpPr>
          <p:cNvPr id="45" name="Step Arrow 11"/>
          <p:cNvSpPr txBox="1"/>
          <p:nvPr/>
        </p:nvSpPr>
        <p:spPr>
          <a:xfrm>
            <a:off x="9454896" y="4503420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D1485"/>
                </a:solidFill>
                <a:latin typeface="Fjalla One"/>
              </a:defRPr>
            </a:pPr>
            <a:r>
              <a:rPr lang="en-US" sz="1300" b="1" dirty="0">
                <a:solidFill>
                  <a:srgbClr val="FD1485"/>
                </a:solidFill>
                <a:latin typeface="Fjalla One"/>
              </a:rPr>
              <a:t>➔</a:t>
            </a:r>
          </a:p>
        </p:txBody>
      </p:sp>
      <p:sp>
        <p:nvSpPr>
          <p:cNvPr id="46" name="Step 12"/>
          <p:cNvSpPr/>
          <p:nvPr/>
        </p:nvSpPr>
        <p:spPr>
          <a:xfrm>
            <a:off x="9692640" y="397764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73152" rIns="64008" rtlCol="0" anchor="t"/>
          <a:lstStyle/>
          <a:p>
            <a:pPr algn="ctr">
              <a:defRPr sz="2000" b="1">
                <a:solidFill>
                  <a:srgbClr val="FD1485"/>
                </a:solidFill>
                <a:latin typeface="Fjalla One"/>
              </a:defRPr>
            </a:pPr>
            <a:r>
              <a:rPr lang="en-US" sz="2000" b="1" dirty="0">
                <a:solidFill>
                  <a:srgbClr val="FD1485"/>
                </a:solidFill>
                <a:latin typeface="Fjalla One"/>
              </a:rPr>
              <a:t>12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lang="en-US" sz="1000" b="1" dirty="0">
                <a:solidFill>
                  <a:srgbClr val="353334"/>
                </a:solidFill>
                <a:latin typeface="Fjalla One"/>
              </a:rPr>
              <a:t>MACHINE PASSPORT</a:t>
            </a:r>
          </a:p>
          <a:p>
            <a:pPr algn="ctr">
              <a:spcBef>
                <a:spcPts val="300"/>
              </a:spcBef>
              <a:defRPr sz="900">
                <a:solidFill>
                  <a:srgbClr val="3C3C41"/>
                </a:solidFill>
                <a:latin typeface="Mulish"/>
              </a:defRPr>
            </a:pPr>
            <a:r>
              <a:rPr lang="en-US" sz="900" dirty="0">
                <a:solidFill>
                  <a:srgbClr val="3C3C41"/>
                </a:solidFill>
                <a:latin typeface="Mulish"/>
              </a:rPr>
              <a:t>Service history is permanently updated.</a:t>
            </a:r>
          </a:p>
        </p:txBody>
      </p:sp>
      <p:sp>
        <p:nvSpPr>
          <p:cNvPr id="47" name="Final Callout"/>
          <p:cNvSpPr/>
          <p:nvPr/>
        </p:nvSpPr>
        <p:spPr>
          <a:xfrm>
            <a:off x="1645920" y="5623560"/>
            <a:ext cx="94183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lang="en-US" sz="1400" b="1" dirty="0">
                <a:solidFill>
                  <a:srgbClr val="353334"/>
                </a:solidFill>
                <a:latin typeface="Fjalla One"/>
              </a:rPr>
              <a:t>One request. One governed workflow. Dynamic recovery from failure to verified closure.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1502</Words>
  <Application>Microsoft Office PowerPoint</Application>
  <PresentationFormat>Widescreen</PresentationFormat>
  <Paragraphs>248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Fjalla One</vt:lpstr>
      <vt:lpstr>Mulish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nishanth p</cp:lastModifiedBy>
  <cp:revision>10</cp:revision>
  <dcterms:created xsi:type="dcterms:W3CDTF">2013-01-27T09:14:16Z</dcterms:created>
  <dcterms:modified xsi:type="dcterms:W3CDTF">2026-10-07T08:51:53Z</dcterms:modified>
  <cp:category/>
</cp:coreProperties>
</file>